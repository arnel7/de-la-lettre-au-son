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9" r:id="rId9"/>
    <p:sldId id="268" r:id="rId38"/>
    <p:sldId id="269" r:id="rId39"/>
    <p:sldId id="260" r:id="rId10"/>
    <p:sldId id="261" r:id="rId11"/>
    <p:sldId id="270" r:id="rId40"/>
    <p:sldId id="264" r:id="rId14"/>
    <p:sldId id="262" r:id="rId12"/>
    <p:sldId id="258" r:id="rId8"/>
    <p:sldId id="263" r:id="rId13"/>
    <p:sldId id="271" r:id="rId41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Poppins" charset="1" panose="00000500000000000000"/>
      <p:regular r:id="rId22"/>
    </p:embeddedFont>
    <p:embeddedFont>
      <p:font typeface="Poppins Medium" charset="1" panose="00000600000000000000"/>
      <p:regular r:id="rId23"/>
    </p:embeddedFont>
    <p:embeddedFont>
      <p:font typeface="Poppins Semi-Bold" charset="1" panose="00000700000000000000"/>
      <p:regular r:id="rId24"/>
    </p:embeddedFont>
    <p:embeddedFont>
      <p:font typeface="Arimo" charset="1" panose="020B0604020202020204"/>
      <p:regular r:id="rId26"/>
    </p:embeddedFont>
    <p:embeddedFont>
      <p:font typeface="Arimo Bold" charset="1" panose="020B0704020202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19" Type="http://schemas.openxmlformats.org/officeDocument/2006/relationships/theme" Target="theme/theme2.xml"/><Relationship Id="rId20" Type="http://schemas.openxmlformats.org/officeDocument/2006/relationships/notesSlide" Target="notesSlides/notesSlide1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notesSlide" Target="notesSlides/notesSlide2.xml"/><Relationship Id="rId26" Type="http://schemas.openxmlformats.org/officeDocument/2006/relationships/font" Target="fonts/font26.fntdata"/><Relationship Id="rId27" Type="http://schemas.openxmlformats.org/officeDocument/2006/relationships/notesSlide" Target="notesSlides/notesSlide3.xml"/><Relationship Id="rId28" Type="http://schemas.openxmlformats.org/officeDocument/2006/relationships/notesSlide" Target="notesSlides/notesSlide4.xml"/><Relationship Id="rId29" Type="http://schemas.openxmlformats.org/officeDocument/2006/relationships/notesSlide" Target="notesSlides/notesSlide5.xml"/><Relationship Id="rId30" Type="http://schemas.openxmlformats.org/officeDocument/2006/relationships/notesSlide" Target="notesSlides/notesSlide6.xml"/><Relationship Id="rId31" Type="http://schemas.openxmlformats.org/officeDocument/2006/relationships/notesSlide" Target="notesSlides/notesSlide7.xml"/><Relationship Id="rId32" Type="http://schemas.openxmlformats.org/officeDocument/2006/relationships/font" Target="fonts/font32.fntdata"/><Relationship Id="rId33" Type="http://schemas.openxmlformats.org/officeDocument/2006/relationships/notesSlide" Target="notesSlides/notesSlide8.xml"/><Relationship Id="rId34" Type="http://schemas.openxmlformats.org/officeDocument/2006/relationships/notesSlide" Target="notesSlides/notesSlide9.xml"/><Relationship Id="rId35" Type="http://schemas.openxmlformats.org/officeDocument/2006/relationships/notesSlide" Target="notesSlides/notesSlide10.xml"/><Relationship Id="rId36" Type="http://schemas.openxmlformats.org/officeDocument/2006/relationships/notesSlide" Target="notesSlides/notesSlide11.xml"/><Relationship Id="rId37" Type="http://schemas.openxmlformats.org/officeDocument/2006/relationships/notesSlide" Target="notesSlides/notes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slide" Target="slides/slide15.xml"/><Relationship Id="rId4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eg"/><Relationship Id="rId4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1047750"/>
            <a:ext cx="738188" cy="857250"/>
            <a:chOff x="0" y="0"/>
            <a:chExt cx="984250" cy="1143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4250" cy="1143000"/>
            </a:xfrm>
            <a:custGeom>
              <a:avLst/>
              <a:gdLst/>
              <a:ahLst/>
              <a:cxnLst/>
              <a:rect r="r" b="b" t="t" l="l"/>
              <a:pathLst>
                <a:path h="1143000" w="984250">
                  <a:moveTo>
                    <a:pt x="0" y="0"/>
                  </a:moveTo>
                  <a:lnTo>
                    <a:pt x="984250" y="0"/>
                  </a:lnTo>
                  <a:lnTo>
                    <a:pt x="98425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1143000" y="4457510"/>
            <a:ext cx="16002000" cy="2619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2"/>
              </a:lnSpc>
            </a:pPr>
            <a:r>
              <a:rPr lang="en-US" b="true" sz="9600" spc="-288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De la lettre au son 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105668" y="619908"/>
            <a:ext cx="3039332" cy="455634"/>
            <a:chOff x="0" y="0"/>
            <a:chExt cx="800483" cy="120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0483" cy="120002"/>
            </a:xfrm>
            <a:custGeom>
              <a:avLst/>
              <a:gdLst/>
              <a:ahLst/>
              <a:cxnLst/>
              <a:rect r="r" b="b" t="t" l="l"/>
              <a:pathLst>
                <a:path h="120002" w="800483">
                  <a:moveTo>
                    <a:pt x="60001" y="0"/>
                  </a:moveTo>
                  <a:lnTo>
                    <a:pt x="740481" y="0"/>
                  </a:lnTo>
                  <a:cubicBezTo>
                    <a:pt x="756395" y="0"/>
                    <a:pt x="771656" y="6322"/>
                    <a:pt x="782909" y="17574"/>
                  </a:cubicBezTo>
                  <a:cubicBezTo>
                    <a:pt x="794161" y="28826"/>
                    <a:pt x="800483" y="44088"/>
                    <a:pt x="800483" y="60001"/>
                  </a:cubicBezTo>
                  <a:lnTo>
                    <a:pt x="800483" y="60001"/>
                  </a:lnTo>
                  <a:cubicBezTo>
                    <a:pt x="800483" y="75915"/>
                    <a:pt x="794161" y="91176"/>
                    <a:pt x="782909" y="102428"/>
                  </a:cubicBezTo>
                  <a:cubicBezTo>
                    <a:pt x="771656" y="113681"/>
                    <a:pt x="756395" y="120002"/>
                    <a:pt x="740481" y="120002"/>
                  </a:cubicBezTo>
                  <a:lnTo>
                    <a:pt x="60001" y="120002"/>
                  </a:lnTo>
                  <a:cubicBezTo>
                    <a:pt x="44088" y="120002"/>
                    <a:pt x="28826" y="113681"/>
                    <a:pt x="17574" y="102428"/>
                  </a:cubicBezTo>
                  <a:cubicBezTo>
                    <a:pt x="6322" y="91176"/>
                    <a:pt x="0" y="75915"/>
                    <a:pt x="0" y="60001"/>
                  </a:cubicBezTo>
                  <a:lnTo>
                    <a:pt x="0" y="60001"/>
                  </a:lnTo>
                  <a:cubicBezTo>
                    <a:pt x="0" y="44088"/>
                    <a:pt x="6322" y="28826"/>
                    <a:pt x="17574" y="17574"/>
                  </a:cubicBezTo>
                  <a:cubicBezTo>
                    <a:pt x="28826" y="6322"/>
                    <a:pt x="44088" y="0"/>
                    <a:pt x="60001" y="0"/>
                  </a:cubicBezTo>
                  <a:close/>
                </a:path>
              </a:pathLst>
            </a:custGeom>
            <a:solidFill>
              <a:srgbClr val="FBC418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00483" cy="177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78628" y="1156178"/>
            <a:ext cx="3265499" cy="54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</a:pPr>
            <a:r>
              <a:rPr lang="en-US" b="true" sz="3014" spc="-3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3014" spc="-3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3014" spc="-3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6675120"/>
            <a:ext cx="12382500" cy="556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Synthèse vocale, clonage, et ce qui manque à nos langues béninoises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8953500"/>
            <a:ext cx="73152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5B5B5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LAWSON Arnel · Machine Learning Engineer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84480" y="8953500"/>
            <a:ext cx="416052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5B5B5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IndabaX Bénin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98467" y="630238"/>
            <a:ext cx="185373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 spc="100">
                <a:solidFill>
                  <a:srgbClr val="2B2B2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WORKSHOP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7635240"/>
            <a:ext cx="10972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008751"/>
                </a:solidFill>
                <a:latin typeface="Arimo"/>
              </a:rPr>
              <a:t>Ouvrez le notebook, la première cellule est longue :</a:t>
            </a:r>
          </a:p>
          <a:p>
            <a:pPr algn="l"/>
            <a:r>
              <a:rPr sz="1700" b="0">
                <a:solidFill>
                  <a:srgbClr val="008751"/>
                </a:solidFill>
                <a:latin typeface="Arimo"/>
              </a:rPr>
              <a:t>colab.research.google.com/github/Arnel7/de-la-lettre-au-son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143000" y="990600"/>
            <a:ext cx="16002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351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3000" y="1600200"/>
            <a:ext cx="16002000" cy="84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b="true" sz="6600" spc="-165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Ce qu'on fait aujourd'hui.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1143000" y="4137565"/>
            <a:ext cx="16002000" cy="9525"/>
          </a:xfrm>
          <a:prstGeom prst="rect">
            <a:avLst/>
          </a:prstGeom>
          <a:solidFill>
            <a:srgbClr val="E6E6E6"/>
          </a:solid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1143000" y="3261265"/>
            <a:ext cx="9525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76500" y="3318415"/>
            <a:ext cx="1361208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b="true" sz="2850">
                <a:solidFill>
                  <a:srgbClr val="0A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Comprendre : du texte à la voix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69582" y="3375565"/>
            <a:ext cx="10972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Arimo"/>
                <a:ea typeface="Arimo"/>
                <a:cs typeface="Arimo"/>
                <a:sym typeface="Arimo"/>
              </a:rPr>
              <a:t>13 min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1143000" y="5232940"/>
            <a:ext cx="16002000" cy="9525"/>
          </a:xfrm>
          <a:prstGeom prst="rect">
            <a:avLst/>
          </a:prstGeom>
          <a:solidFill>
            <a:srgbClr val="E6E6E6"/>
          </a:solid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1143000" y="4356640"/>
            <a:ext cx="9525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76500" y="4413790"/>
            <a:ext cx="1361208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b="true" sz="2850">
                <a:solidFill>
                  <a:srgbClr val="0A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Enregistrer trois voix à cloner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69582" y="4470940"/>
            <a:ext cx="67541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Arimo"/>
                <a:ea typeface="Arimo"/>
                <a:cs typeface="Arimo"/>
                <a:sym typeface="Arimo"/>
              </a:rPr>
              <a:t>3 min</a:t>
            </a:r>
          </a:p>
        </p:txBody>
      </p:sp>
      <p:sp>
        <p:nvSpPr>
          <p:cNvPr name="AutoShape 13" id="13"/>
          <p:cNvSpPr/>
          <p:nvPr/>
        </p:nvSpPr>
        <p:spPr>
          <a:xfrm rot="0">
            <a:off x="1143000" y="6328315"/>
            <a:ext cx="16002000" cy="9525"/>
          </a:xfrm>
          <a:prstGeom prst="rect">
            <a:avLst/>
          </a:prstGeom>
          <a:solidFill>
            <a:srgbClr val="E6E6E6"/>
          </a:solidFill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1143000" y="5452015"/>
            <a:ext cx="9525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76500" y="5509165"/>
            <a:ext cx="1361208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b="true" sz="2850">
                <a:solidFill>
                  <a:srgbClr val="0A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Pratiquer : votre phonémiseur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69582" y="5566315"/>
            <a:ext cx="67541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Arimo"/>
                <a:ea typeface="Arimo"/>
                <a:cs typeface="Arimo"/>
                <a:sym typeface="Arimo"/>
              </a:rPr>
              <a:t>32 min</a:t>
            </a:r>
          </a:p>
        </p:txBody>
      </p:sp>
      <p:sp>
        <p:nvSpPr>
          <p:cNvPr name="AutoShape 17" id="17"/>
          <p:cNvSpPr/>
          <p:nvPr/>
        </p:nvSpPr>
        <p:spPr>
          <a:xfrm rot="0">
            <a:off x="1143000" y="7423690"/>
            <a:ext cx="16002000" cy="9525"/>
          </a:xfrm>
          <a:prstGeom prst="rect">
            <a:avLst/>
          </a:prstGeom>
          <a:solidFill>
            <a:srgbClr val="E6E6E6"/>
          </a:solidFill>
        </p:spPr>
        <p:txBody>
          <a:bodyPr/>
          <a:p/>
        </p:txBody>
      </p:sp>
      <p:sp>
        <p:nvSpPr>
          <p:cNvPr name="TextBox 18" id="18"/>
          <p:cNvSpPr txBox="true"/>
          <p:nvPr/>
        </p:nvSpPr>
        <p:spPr>
          <a:xfrm rot="0">
            <a:off x="1143000" y="6547390"/>
            <a:ext cx="9525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76500" y="6604540"/>
            <a:ext cx="1361208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b="true" sz="2850">
                <a:solidFill>
                  <a:srgbClr val="0A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Écouter les clones, et ma demande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69582" y="6661690"/>
            <a:ext cx="67541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Arimo"/>
                <a:ea typeface="Arimo"/>
                <a:cs typeface="Arimo"/>
                <a:sym typeface="Arimo"/>
              </a:rPr>
              <a:t>12 min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43000" y="8782050"/>
            <a:ext cx="393668" cy="457200"/>
            <a:chOff x="0" y="0"/>
            <a:chExt cx="524891" cy="60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89068" y="8858250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98157" y="8767762"/>
            <a:ext cx="6468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B5B5B"/>
                </a:solidFill>
                <a:latin typeface="Arimo"/>
                <a:ea typeface="Arimo"/>
                <a:cs typeface="Arimo"/>
                <a:sym typeface="Arimo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4500" y="3974878"/>
            <a:ext cx="8001000" cy="114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b="true" sz="3150">
                <a:solidFill>
                  <a:srgbClr val="0A0A0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 qui se transfère d'une langue à l'autre, et ce qui ne se transfère pas.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34500" y="5426297"/>
            <a:ext cx="80010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Deux façons de cloner une voix. Le fine-tuning réentraîne le modèle et demande des heures d'audio. Le zero-shot ne modifie aucun poids : il extrait une empreinte et s'en sert à la volée. C'est celui que nous employons.</a:t>
            </a:r>
          </a:p>
          <a:p>
            <a:pPr algn="l"/>
            <a:r>
              <a:rPr lang="en-US" sz="195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algn="l"/>
            <a:r>
              <a:rPr lang="en-US" sz="195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Une expérience témoin : une seule variable change.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0" y="0"/>
            <a:ext cx="8382000" cy="10287000"/>
          </a:xfrm>
          <a:prstGeom prst="rect">
            <a:avLst/>
          </a:prstGeom>
          <a:solidFill>
            <a:srgbClr val="008751"/>
          </a:solid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4762976" y="762000"/>
            <a:ext cx="3047524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0"/>
              </a:lnSpc>
            </a:pPr>
            <a:r>
              <a:rPr lang="en-US" b="true" sz="21000" spc="-840">
                <a:gradFill>
                  <a:gsLst>
                    <a:gs pos="0">
                      <a:srgbClr val="FFFFFF">
                        <a:alpha val="18000"/>
                      </a:srgbClr>
                    </a:gs>
                    <a:gs pos="100000">
                      <a:srgbClr val="FFFFFF">
                        <a:alpha val="18000"/>
                      </a:srgbClr>
                    </a:gs>
                  </a:gsLst>
                  <a:lin ang="16200000"/>
                </a:gra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2000" y="3181350"/>
            <a:ext cx="6858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351">
                <a:solidFill>
                  <a:srgbClr val="FCD116"/>
                </a:solidFill>
                <a:latin typeface="Poppins Bold"/>
                <a:ea typeface="Poppins Bold"/>
                <a:cs typeface="Poppins Bold"/>
                <a:sym typeface="Poppins Bold"/>
              </a:rPr>
              <a:t>QUATRIÈME PARTIE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2000" y="3924300"/>
            <a:ext cx="6858000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b="true" sz="9000" spc="-27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</a:t>
            </a:r>
          </a:p>
          <a:p>
            <a:pPr algn="l"/>
            <a:r>
              <a:rPr lang="en-US" b="true" sz="9000" spc="-27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clonage.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143000" y="990600"/>
            <a:ext cx="16002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351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ÉCOUTEZ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3000" y="1571625"/>
            <a:ext cx="15240000" cy="81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6000" spc="-1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Deux langues. Même système. Deux résultats.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8782050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89068" y="8858250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98157" y="8767762"/>
            <a:ext cx="6468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B5B5B"/>
                </a:solidFill>
                <a:latin typeface="Arimo"/>
                <a:ea typeface="Arimo"/>
                <a:cs typeface="Arimo"/>
                <a:sym typeface="Arimo"/>
              </a:rPr>
              <a:t>03 /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200400"/>
            <a:ext cx="4754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5B5B5B"/>
                </a:solidFill>
                <a:latin typeface="Arimo"/>
              </a:rPr>
              <a:t>une phrase qui passe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3200400"/>
            <a:ext cx="4754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5B5B5B"/>
                </a:solidFill>
                <a:latin typeface="Arimo"/>
              </a:rPr>
              <a:t>une phrase qui échoue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20624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Poppins"/>
              </a:rPr>
              <a:t>FRANÇAIS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703320"/>
            <a:ext cx="475488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87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849624"/>
            <a:ext cx="43891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A0A0A"/>
                </a:solidFill>
                <a:latin typeface="Arimo"/>
              </a:rPr>
              <a:t>bonjour et bienvenue à indabax bénin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636008"/>
            <a:ext cx="4754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8751"/>
                </a:solidFill>
                <a:latin typeface="Poppins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38559" y="3703320"/>
            <a:ext cx="475488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811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21439" y="3849624"/>
            <a:ext cx="43891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A0A0A"/>
                </a:solidFill>
                <a:latin typeface="Arimo"/>
              </a:rPr>
              <a:t>les poules du couvent couvent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59" y="4636008"/>
            <a:ext cx="4754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E8112D"/>
                </a:solidFill>
                <a:latin typeface="Poppins"/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6080759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Poppins"/>
              </a:rPr>
              <a:t>FONGBÉ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5577840"/>
            <a:ext cx="475488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87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724144"/>
            <a:ext cx="43891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A0A0A"/>
                </a:solidFill>
                <a:latin typeface="Arimo"/>
              </a:rPr>
              <a:t>E ɖɔ nu mi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6181344"/>
            <a:ext cx="4389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5B5B5B"/>
                </a:solidFill>
                <a:latin typeface="Arimo"/>
              </a:rPr>
              <a:t>sans les tons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6510527"/>
            <a:ext cx="4754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8751"/>
                </a:solidFill>
                <a:latin typeface="Poppins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338559" y="5577840"/>
            <a:ext cx="475488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811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521439" y="5724144"/>
            <a:ext cx="43891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A0A0A"/>
                </a:solidFill>
                <a:latin typeface="Arimo"/>
              </a:rPr>
              <a:t>È ɖɔ̀ nú mi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39" y="6181344"/>
            <a:ext cx="4389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5B5B5B"/>
                </a:solidFill>
                <a:latin typeface="Arimo"/>
              </a:rPr>
              <a:t>les tons écrits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59" y="6510527"/>
            <a:ext cx="4754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E8112D"/>
                </a:solidFill>
                <a:latin typeface="Poppins"/>
              </a:rPr>
              <a:t>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543800"/>
            <a:ext cx="1600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Poppins"/>
              </a:rPr>
              <a:t>Pourquoi puis-je réparer l'un, et pas l'autre 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143000" y="990600"/>
            <a:ext cx="16002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351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EN CHIFFRES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3000" y="1600200"/>
            <a:ext cx="14287500" cy="1641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5"/>
              </a:lnSpc>
            </a:pPr>
            <a:r>
              <a:rPr lang="en-US" b="true" sz="6300" spc="-157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Le dictionnaire le mieux doté ici.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43000" y="8782050"/>
            <a:ext cx="393668" cy="457200"/>
            <a:chOff x="0" y="0"/>
            <a:chExt cx="524891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7" id="7"/>
          <p:cNvSpPr txBox="true"/>
          <p:nvPr/>
        </p:nvSpPr>
        <p:spPr>
          <a:xfrm rot="0">
            <a:off x="1689068" y="8858250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98157" y="8767762"/>
            <a:ext cx="6468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B5B5B"/>
                </a:solidFill>
                <a:latin typeface="Arimo"/>
                <a:ea typeface="Arimo"/>
                <a:cs typeface="Arimo"/>
                <a:sym typeface="Arimo"/>
              </a:rPr>
              <a:t>06 / 16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38250" y="3946969"/>
            <a:ext cx="5105400" cy="4587526"/>
            <a:chOff x="0" y="0"/>
            <a:chExt cx="6807200" cy="61167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07200" cy="6116701"/>
            </a:xfrm>
            <a:custGeom>
              <a:avLst/>
              <a:gdLst/>
              <a:ahLst/>
              <a:cxnLst/>
              <a:rect r="r" b="b" t="t" l="l"/>
              <a:pathLst>
                <a:path h="6116701" w="6807200">
                  <a:moveTo>
                    <a:pt x="203200" y="0"/>
                  </a:move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5913501"/>
                  </a:lnTo>
                  <a:cubicBezTo>
                    <a:pt x="6807200" y="6025769"/>
                    <a:pt x="6716268" y="6116701"/>
                    <a:pt x="6604000" y="6116701"/>
                  </a:cubicBezTo>
                  <a:lnTo>
                    <a:pt x="203200" y="6116701"/>
                  </a:lnTo>
                  <a:cubicBezTo>
                    <a:pt x="90932" y="6116701"/>
                    <a:pt x="0" y="6025769"/>
                    <a:pt x="0" y="5913501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008751"/>
            </a:solid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3000" y="3813619"/>
            <a:ext cx="5105400" cy="4587526"/>
            <a:chOff x="0" y="0"/>
            <a:chExt cx="6807200" cy="61167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07200" cy="6116701"/>
            </a:xfrm>
            <a:custGeom>
              <a:avLst/>
              <a:gdLst/>
              <a:ahLst/>
              <a:cxnLst/>
              <a:rect r="r" b="b" t="t" l="l"/>
              <a:pathLst>
                <a:path h="6116701" w="6807200">
                  <a:moveTo>
                    <a:pt x="203200" y="0"/>
                  </a:move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5913501"/>
                  </a:lnTo>
                  <a:cubicBezTo>
                    <a:pt x="6807200" y="6025769"/>
                    <a:pt x="6716268" y="6116701"/>
                    <a:pt x="6604000" y="6116701"/>
                  </a:cubicBezTo>
                  <a:lnTo>
                    <a:pt x="203200" y="6116701"/>
                  </a:lnTo>
                  <a:cubicBezTo>
                    <a:pt x="90932" y="6116701"/>
                    <a:pt x="0" y="6025769"/>
                    <a:pt x="0" y="5913501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07200" cy="6116701"/>
            </a:xfrm>
            <a:custGeom>
              <a:avLst/>
              <a:gdLst/>
              <a:ahLst/>
              <a:cxnLst/>
              <a:rect r="r" b="b" t="t" l="l"/>
              <a:pathLst>
                <a:path h="6116701" w="6807200">
                  <a:moveTo>
                    <a:pt x="203200" y="0"/>
                  </a:move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5913501"/>
                  </a:lnTo>
                  <a:cubicBezTo>
                    <a:pt x="6807200" y="6025769"/>
                    <a:pt x="6716268" y="6116701"/>
                    <a:pt x="6604000" y="6116701"/>
                  </a:cubicBezTo>
                  <a:lnTo>
                    <a:pt x="203200" y="6116701"/>
                  </a:lnTo>
                  <a:cubicBezTo>
                    <a:pt x="90932" y="6116701"/>
                    <a:pt x="0" y="6025769"/>
                    <a:pt x="0" y="5913501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A0A0A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33525" y="4289869"/>
            <a:ext cx="43243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b="true" sz="7800" spc="-195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90 114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3525" y="5337619"/>
            <a:ext cx="43243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mots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33525" y="7336345"/>
            <a:ext cx="4324350" cy="655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5B5B5B"/>
                </a:solidFill>
                <a:latin typeface="Poppins"/>
                <a:ea typeface="Poppins"/>
                <a:cs typeface="Poppins"/>
                <a:sym typeface="Poppins"/>
              </a:rPr>
              <a:t>Écrits par des linguistes, pendant des années.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686550" y="3946969"/>
            <a:ext cx="5105400" cy="4587526"/>
            <a:chOff x="0" y="0"/>
            <a:chExt cx="6807200" cy="61167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07200" cy="6116701"/>
            </a:xfrm>
            <a:custGeom>
              <a:avLst/>
              <a:gdLst/>
              <a:ahLst/>
              <a:cxnLst/>
              <a:rect r="r" b="b" t="t" l="l"/>
              <a:pathLst>
                <a:path h="6116701" w="6807200">
                  <a:moveTo>
                    <a:pt x="203200" y="0"/>
                  </a:move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5913501"/>
                  </a:lnTo>
                  <a:cubicBezTo>
                    <a:pt x="6807200" y="6025769"/>
                    <a:pt x="6716268" y="6116701"/>
                    <a:pt x="6604000" y="6116701"/>
                  </a:cubicBezTo>
                  <a:lnTo>
                    <a:pt x="203200" y="6116701"/>
                  </a:lnTo>
                  <a:cubicBezTo>
                    <a:pt x="90932" y="6116701"/>
                    <a:pt x="0" y="6025769"/>
                    <a:pt x="0" y="5913501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FCD116"/>
            </a:solid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91300" y="3813619"/>
            <a:ext cx="5105400" cy="4587526"/>
            <a:chOff x="0" y="0"/>
            <a:chExt cx="6807200" cy="61167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07200" cy="6116701"/>
            </a:xfrm>
            <a:custGeom>
              <a:avLst/>
              <a:gdLst/>
              <a:ahLst/>
              <a:cxnLst/>
              <a:rect r="r" b="b" t="t" l="l"/>
              <a:pathLst>
                <a:path h="6116701" w="6807200">
                  <a:moveTo>
                    <a:pt x="203200" y="0"/>
                  </a:move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5913501"/>
                  </a:lnTo>
                  <a:cubicBezTo>
                    <a:pt x="6807200" y="6025769"/>
                    <a:pt x="6716268" y="6116701"/>
                    <a:pt x="6604000" y="6116701"/>
                  </a:cubicBezTo>
                  <a:lnTo>
                    <a:pt x="203200" y="6116701"/>
                  </a:lnTo>
                  <a:cubicBezTo>
                    <a:pt x="90932" y="6116701"/>
                    <a:pt x="0" y="6025769"/>
                    <a:pt x="0" y="5913501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07200" cy="6116701"/>
            </a:xfrm>
            <a:custGeom>
              <a:avLst/>
              <a:gdLst/>
              <a:ahLst/>
              <a:cxnLst/>
              <a:rect r="r" b="b" t="t" l="l"/>
              <a:pathLst>
                <a:path h="6116701" w="6807200">
                  <a:moveTo>
                    <a:pt x="203200" y="0"/>
                  </a:move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5913501"/>
                  </a:lnTo>
                  <a:cubicBezTo>
                    <a:pt x="6807200" y="6025769"/>
                    <a:pt x="6716268" y="6116701"/>
                    <a:pt x="6604000" y="6116701"/>
                  </a:cubicBezTo>
                  <a:lnTo>
                    <a:pt x="203200" y="6116701"/>
                  </a:lnTo>
                  <a:cubicBezTo>
                    <a:pt x="90932" y="6116701"/>
                    <a:pt x="0" y="6025769"/>
                    <a:pt x="0" y="5913501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A0A0A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22" id="22"/>
          <p:cNvSpPr txBox="true"/>
          <p:nvPr/>
        </p:nvSpPr>
        <p:spPr>
          <a:xfrm rot="0">
            <a:off x="6981825" y="4289869"/>
            <a:ext cx="43243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b="true" sz="7800" spc="-195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1 870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81825" y="5337619"/>
            <a:ext cx="43243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ont plusieurs prononciations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81825" y="7336345"/>
            <a:ext cx="4324350" cy="655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5B5B5B"/>
                </a:solidFill>
                <a:latin typeface="Poppins"/>
                <a:ea typeface="Poppins"/>
                <a:cs typeface="Poppins"/>
                <a:sym typeface="Poppins"/>
              </a:rPr>
              <a:t>Les deux « couvent » en font partie.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134850" y="3946969"/>
            <a:ext cx="5105400" cy="4587526"/>
            <a:chOff x="0" y="0"/>
            <a:chExt cx="6807200" cy="611670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07200" cy="6116701"/>
            </a:xfrm>
            <a:custGeom>
              <a:avLst/>
              <a:gdLst/>
              <a:ahLst/>
              <a:cxnLst/>
              <a:rect r="r" b="b" t="t" l="l"/>
              <a:pathLst>
                <a:path h="6116701" w="6807200">
                  <a:moveTo>
                    <a:pt x="203200" y="0"/>
                  </a:move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5913501"/>
                  </a:lnTo>
                  <a:cubicBezTo>
                    <a:pt x="6807200" y="6025769"/>
                    <a:pt x="6716268" y="6116701"/>
                    <a:pt x="6604000" y="6116701"/>
                  </a:cubicBezTo>
                  <a:lnTo>
                    <a:pt x="203200" y="6116701"/>
                  </a:lnTo>
                  <a:cubicBezTo>
                    <a:pt x="90932" y="6116701"/>
                    <a:pt x="0" y="6025769"/>
                    <a:pt x="0" y="5913501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E8112D"/>
            </a:solid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039600" y="3813619"/>
            <a:ext cx="5105400" cy="4587526"/>
            <a:chOff x="0" y="0"/>
            <a:chExt cx="6807200" cy="611670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07200" cy="6116701"/>
            </a:xfrm>
            <a:custGeom>
              <a:avLst/>
              <a:gdLst/>
              <a:ahLst/>
              <a:cxnLst/>
              <a:rect r="r" b="b" t="t" l="l"/>
              <a:pathLst>
                <a:path h="6116701" w="6807200">
                  <a:moveTo>
                    <a:pt x="203200" y="0"/>
                  </a:move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5913501"/>
                  </a:lnTo>
                  <a:cubicBezTo>
                    <a:pt x="6807200" y="6025769"/>
                    <a:pt x="6716268" y="6116701"/>
                    <a:pt x="6604000" y="6116701"/>
                  </a:cubicBezTo>
                  <a:lnTo>
                    <a:pt x="203200" y="6116701"/>
                  </a:lnTo>
                  <a:cubicBezTo>
                    <a:pt x="90932" y="6116701"/>
                    <a:pt x="0" y="6025769"/>
                    <a:pt x="0" y="5913501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07200" cy="6116701"/>
            </a:xfrm>
            <a:custGeom>
              <a:avLst/>
              <a:gdLst/>
              <a:ahLst/>
              <a:cxnLst/>
              <a:rect r="r" b="b" t="t" l="l"/>
              <a:pathLst>
                <a:path h="6116701" w="6807200">
                  <a:moveTo>
                    <a:pt x="203200" y="0"/>
                  </a:move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5913501"/>
                  </a:lnTo>
                  <a:cubicBezTo>
                    <a:pt x="6807200" y="6025769"/>
                    <a:pt x="6716268" y="6116701"/>
                    <a:pt x="6604000" y="6116701"/>
                  </a:cubicBezTo>
                  <a:lnTo>
                    <a:pt x="203200" y="6116701"/>
                  </a:lnTo>
                  <a:cubicBezTo>
                    <a:pt x="90932" y="6116701"/>
                    <a:pt x="0" y="6025769"/>
                    <a:pt x="0" y="5913501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A0A0A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430125" y="4289869"/>
            <a:ext cx="43243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b="true" sz="7800" spc="-195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30125" y="5337619"/>
            <a:ext cx="43243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portent la condition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30125" y="7336345"/>
            <a:ext cx="4324350" cy="655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5B5B5B"/>
                </a:solidFill>
                <a:latin typeface="Poppins"/>
                <a:ea typeface="Poppins"/>
                <a:cs typeface="Poppins"/>
                <a:sym typeface="Poppins"/>
              </a:rPr>
              <a:t>La colonne existe. Elle est vide, partout.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952500" y="895350"/>
            <a:ext cx="104775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351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LIVE DEMO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001500" y="3821430"/>
            <a:ext cx="5334000" cy="115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b="true" sz="3900" spc="-78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Le dernier mot de la dernière ligne.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001500" y="5170170"/>
            <a:ext cx="533400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La nature des mots est identique avant et après. L'étiquetage n'a jamais été le problème.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2500" y="1428750"/>
            <a:ext cx="10477500" cy="7905750"/>
            <a:chOff x="0" y="0"/>
            <a:chExt cx="13970000" cy="1054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70000" cy="10541000"/>
            </a:xfrm>
            <a:custGeom>
              <a:avLst/>
              <a:gdLst/>
              <a:ahLst/>
              <a:cxnLst/>
              <a:rect r="r" b="b" t="t" l="l"/>
              <a:pathLst>
                <a:path h="10541000" w="13970000">
                  <a:moveTo>
                    <a:pt x="152400" y="0"/>
                  </a:moveTo>
                  <a:lnTo>
                    <a:pt x="13817600" y="0"/>
                  </a:lnTo>
                  <a:cubicBezTo>
                    <a:pt x="13901801" y="0"/>
                    <a:pt x="13970000" y="68199"/>
                    <a:pt x="13970000" y="152400"/>
                  </a:cubicBezTo>
                  <a:lnTo>
                    <a:pt x="13970000" y="10388600"/>
                  </a:lnTo>
                  <a:cubicBezTo>
                    <a:pt x="13970000" y="10472801"/>
                    <a:pt x="13901801" y="10541000"/>
                    <a:pt x="13817600" y="10541000"/>
                  </a:cubicBezTo>
                  <a:lnTo>
                    <a:pt x="152400" y="10541000"/>
                  </a:lnTo>
                  <a:cubicBezTo>
                    <a:pt x="68199" y="10541000"/>
                    <a:pt x="0" y="10472801"/>
                    <a:pt x="0" y="103886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A0A0A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1371600" y="1847850"/>
            <a:ext cx="152400" cy="152400"/>
            <a:chOff x="0" y="0"/>
            <a:chExt cx="203200" cy="203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34" y="0"/>
                    <a:pt x="203200" y="45466"/>
                    <a:pt x="203200" y="101600"/>
                  </a:cubicBezTo>
                  <a:cubicBezTo>
                    <a:pt x="203200" y="157734"/>
                    <a:pt x="157734" y="203200"/>
                    <a:pt x="101600" y="203200"/>
                  </a:cubicBezTo>
                  <a:cubicBezTo>
                    <a:pt x="45466" y="203200"/>
                    <a:pt x="0" y="157734"/>
                    <a:pt x="0" y="101600"/>
                  </a:cubicBezTo>
                  <a:cubicBezTo>
                    <a:pt x="0" y="45466"/>
                    <a:pt x="45466" y="0"/>
                    <a:pt x="101600" y="0"/>
                  </a:cubicBezTo>
                  <a:close/>
                </a:path>
              </a:pathLst>
            </a:custGeom>
            <a:solidFill>
              <a:srgbClr val="E8112D"/>
            </a:solid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19250" y="1847850"/>
            <a:ext cx="152400" cy="152400"/>
            <a:chOff x="0" y="0"/>
            <a:chExt cx="203200" cy="20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34" y="0"/>
                    <a:pt x="203200" y="45466"/>
                    <a:pt x="203200" y="101600"/>
                  </a:cubicBezTo>
                  <a:cubicBezTo>
                    <a:pt x="203200" y="157734"/>
                    <a:pt x="157734" y="203200"/>
                    <a:pt x="101600" y="203200"/>
                  </a:cubicBezTo>
                  <a:cubicBezTo>
                    <a:pt x="45466" y="203200"/>
                    <a:pt x="0" y="157734"/>
                    <a:pt x="0" y="101600"/>
                  </a:cubicBezTo>
                  <a:cubicBezTo>
                    <a:pt x="0" y="45466"/>
                    <a:pt x="45466" y="0"/>
                    <a:pt x="101600" y="0"/>
                  </a:cubicBezTo>
                  <a:close/>
                </a:path>
              </a:pathLst>
            </a:custGeom>
            <a:solidFill>
              <a:srgbClr val="FCD116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66900" y="1847850"/>
            <a:ext cx="152400" cy="152400"/>
            <a:chOff x="0" y="0"/>
            <a:chExt cx="203200" cy="203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34" y="0"/>
                    <a:pt x="203200" y="45466"/>
                    <a:pt x="203200" y="101600"/>
                  </a:cubicBezTo>
                  <a:cubicBezTo>
                    <a:pt x="203200" y="157734"/>
                    <a:pt x="157734" y="203200"/>
                    <a:pt x="101600" y="203200"/>
                  </a:cubicBezTo>
                  <a:cubicBezTo>
                    <a:pt x="45466" y="203200"/>
                    <a:pt x="0" y="157734"/>
                    <a:pt x="0" y="101600"/>
                  </a:cubicBezTo>
                  <a:cubicBezTo>
                    <a:pt x="0" y="45466"/>
                    <a:pt x="45466" y="0"/>
                    <a:pt x="101600" y="0"/>
                  </a:cubicBezTo>
                  <a:close/>
                </a:path>
              </a:pathLst>
            </a:custGeom>
            <a:solidFill>
              <a:srgbClr val="0F9D5E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71600" y="2200275"/>
            <a:ext cx="9639300" cy="284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E6E6E6"/>
                </a:solidFill>
                <a:latin typeface="Menlo"/>
                <a:ea typeface="Arimo"/>
                <a:cs typeface="Arimo"/>
                <a:sym typeface="Arimo"/>
              </a:rPr>
              <a:t>« les poules du couvent couvent »</a:t>
            </a:r>
          </a:p>
          <a:p>
            <a:pPr algn="l"/>
            <a:r>
              <a:rPr lang="en-US" sz="2250">
                <a:solidFill>
                  <a:srgbClr val="E6E6E6"/>
                </a:solidFill>
                <a:latin typeface="Menlo"/>
                <a:ea typeface="Arimo"/>
                <a:cs typeface="Arimo"/>
                <a:sym typeface="Arimo"/>
              </a:rPr>
              <a:t/>
            </a:r>
          </a:p>
          <a:p>
            <a:pPr algn="l"/>
            <a:r>
              <a:rPr lang="en-US" sz="2250">
                <a:solidFill>
                  <a:srgbClr val="E6E6E6"/>
                </a:solidFill>
                <a:latin typeface="Menlo"/>
                <a:ea typeface="Arimo"/>
                <a:cs typeface="Arimo"/>
                <a:sym typeface="Arimo"/>
              </a:rPr>
              <a:t>couvent   NOUN   →   kuvɑ̃</a:t>
            </a:r>
          </a:p>
          <a:p>
            <a:pPr algn="l"/>
            <a:r>
              <a:rPr lang="en-US" sz="2250">
                <a:solidFill>
                  <a:srgbClr val="E6E6E6"/>
                </a:solidFill>
                <a:latin typeface="Menlo"/>
                <a:ea typeface="Arimo"/>
                <a:cs typeface="Arimo"/>
                <a:sym typeface="Arimo"/>
              </a:rPr>
              <a:t>couvent   VERB   →   kuvɑ̃      ✗  devrait être kuv</a:t>
            </a:r>
          </a:p>
          <a:p>
            <a:pPr algn="l"/>
            <a:r>
              <a:rPr lang="en-US" sz="2250">
                <a:solidFill>
                  <a:srgbClr val="E6E6E6"/>
                </a:solidFill>
                <a:latin typeface="Menlo"/>
                <a:ea typeface="Arimo"/>
                <a:cs typeface="Arimo"/>
                <a:sym typeface="Arimo"/>
              </a:rPr>
              <a:t/>
            </a:r>
          </a:p>
          <a:p>
            <a:pPr algn="l"/>
            <a:r>
              <a:rPr lang="en-US" sz="2250">
                <a:solidFill>
                  <a:srgbClr val="E6E6E6"/>
                </a:solidFill>
                <a:latin typeface="Menlo"/>
                <a:ea typeface="Arimo"/>
                <a:cs typeface="Arimo"/>
                <a:sym typeface="Arimo"/>
              </a:rPr>
              <a:t>UPDATE word_phonemes</a:t>
            </a:r>
          </a:p>
          <a:p>
            <a:pPr algn="l"/>
            <a:r>
              <a:rPr lang="en-US" sz="2250">
                <a:solidFill>
                  <a:srgbClr val="E6E6E6"/>
                </a:solidFill>
                <a:latin typeface="Menlo"/>
                <a:ea typeface="Arimo"/>
                <a:cs typeface="Arimo"/>
                <a:sym typeface="Arimo"/>
              </a:rPr>
              <a:t>   SET role = 'gruut:VERB'</a:t>
            </a:r>
          </a:p>
          <a:p>
            <a:pPr algn="l"/>
            <a:r>
              <a:rPr lang="en-US" sz="2250">
                <a:solidFill>
                  <a:srgbClr val="E6E6E6"/>
                </a:solidFill>
                <a:latin typeface="Menlo"/>
                <a:ea typeface="Arimo"/>
                <a:cs typeface="Arimo"/>
                <a:sym typeface="Arimo"/>
              </a:rPr>
              <a:t> WHERE word = 'couvent'</a:t>
            </a:r>
          </a:p>
          <a:p>
            <a:pPr algn="l"/>
            <a:r>
              <a:rPr lang="en-US" sz="2250">
                <a:solidFill>
                  <a:srgbClr val="E6E6E6"/>
                </a:solidFill>
                <a:latin typeface="Menlo"/>
                <a:ea typeface="Arimo"/>
                <a:cs typeface="Arimo"/>
                <a:sym typeface="Arimo"/>
              </a:rPr>
              <a:t>   AND pron_order = 1;</a:t>
            </a:r>
          </a:p>
          <a:p>
            <a:pPr algn="l"/>
            <a:r>
              <a:rPr lang="en-US" sz="2250">
                <a:solidFill>
                  <a:srgbClr val="E6E6E6"/>
                </a:solidFill>
                <a:latin typeface="Menlo"/>
                <a:ea typeface="Arimo"/>
                <a:cs typeface="Arimo"/>
                <a:sym typeface="Arimo"/>
              </a:rPr>
              <a:t/>
            </a:r>
          </a:p>
          <a:p>
            <a:pPr algn="l"/>
            <a:r>
              <a:rPr lang="en-US" sz="2250">
                <a:solidFill>
                  <a:srgbClr val="E6E6E6"/>
                </a:solidFill>
                <a:latin typeface="Menlo"/>
                <a:ea typeface="Arimo"/>
                <a:cs typeface="Arimo"/>
                <a:sym typeface="Arimo"/>
              </a:rPr>
              <a:t>couvent   VERB   →   kuv        ✓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6F5F1"/>
          </a:solid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143000" y="990600"/>
            <a:ext cx="337051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351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À VOUS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618619" y="1047750"/>
            <a:ext cx="1526381" cy="590550"/>
            <a:chOff x="0" y="0"/>
            <a:chExt cx="2035175" cy="787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35175" cy="787400"/>
            </a:xfrm>
            <a:custGeom>
              <a:avLst/>
              <a:gdLst/>
              <a:ahLst/>
              <a:cxnLst/>
              <a:rect r="r" b="b" t="t" l="l"/>
              <a:pathLst>
                <a:path h="787400" w="2035175">
                  <a:moveTo>
                    <a:pt x="393700" y="0"/>
                  </a:moveTo>
                  <a:lnTo>
                    <a:pt x="1641475" y="0"/>
                  </a:lnTo>
                  <a:cubicBezTo>
                    <a:pt x="1858899" y="0"/>
                    <a:pt x="2035175" y="176276"/>
                    <a:pt x="2035175" y="393700"/>
                  </a:cubicBezTo>
                  <a:cubicBezTo>
                    <a:pt x="2035175" y="611124"/>
                    <a:pt x="1858899" y="787400"/>
                    <a:pt x="1641475" y="787400"/>
                  </a:cubicBezTo>
                  <a:lnTo>
                    <a:pt x="393700" y="787400"/>
                  </a:lnTo>
                  <a:cubicBezTo>
                    <a:pt x="176276" y="787400"/>
                    <a:pt x="0" y="611124"/>
                    <a:pt x="0" y="393700"/>
                  </a:cubicBezTo>
                  <a:cubicBezTo>
                    <a:pt x="0" y="176276"/>
                    <a:pt x="176276" y="0"/>
                    <a:pt x="393700" y="0"/>
                  </a:cubicBezTo>
                  <a:close/>
                </a:path>
              </a:pathLst>
            </a:custGeom>
            <a:solidFill>
              <a:srgbClr val="0A0A0A"/>
            </a:solid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035175" cy="844550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l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25 minutes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43000" y="1895475"/>
            <a:ext cx="14287500" cy="805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0"/>
              </a:lnSpc>
            </a:pPr>
            <a:r>
              <a:rPr lang="en-US" b="true" sz="5700" spc="-114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Assemblez un phonémiseur.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43000" y="3234595"/>
            <a:ext cx="609600" cy="6096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09" y="0"/>
                    <a:pt x="812800" y="181991"/>
                    <a:pt x="812800" y="406400"/>
                  </a:cubicBezTo>
                  <a:cubicBezTo>
                    <a:pt x="812800" y="630809"/>
                    <a:pt x="630809" y="812800"/>
                    <a:pt x="406400" y="812800"/>
                  </a:cubicBezTo>
                  <a:cubicBezTo>
                    <a:pt x="181991" y="812800"/>
                    <a:pt x="0" y="630809"/>
                    <a:pt x="0" y="406400"/>
                  </a:cubicBezTo>
                  <a:cubicBezTo>
                    <a:pt x="0" y="181991"/>
                    <a:pt x="181991" y="0"/>
                    <a:pt x="406400" y="0"/>
                  </a:cubicBezTo>
                  <a:close/>
                </a:path>
              </a:pathLst>
            </a:custGeom>
            <a:solidFill>
              <a:srgbClr val="0A0A0A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228600" lIns="228600" bIns="228600" rIns="228600"/>
            <a:lstStyle/>
            <a:p>
              <a:pPr algn="l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057400" y="3291745"/>
            <a:ext cx="7099840" cy="52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0A0A0A"/>
                </a:solidFill>
                <a:latin typeface="Poppins"/>
                <a:ea typeface="Poppins"/>
                <a:cs typeface="Poppins"/>
                <a:sym typeface="Poppins"/>
              </a:rPr>
              <a:t>Assembler, puis réparer une entrée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43000" y="4148995"/>
            <a:ext cx="609600" cy="6096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09" y="0"/>
                    <a:pt x="812800" y="181991"/>
                    <a:pt x="812800" y="406400"/>
                  </a:cubicBezTo>
                  <a:cubicBezTo>
                    <a:pt x="812800" y="630809"/>
                    <a:pt x="630809" y="812800"/>
                    <a:pt x="406400" y="812800"/>
                  </a:cubicBezTo>
                  <a:cubicBezTo>
                    <a:pt x="181991" y="812800"/>
                    <a:pt x="0" y="630809"/>
                    <a:pt x="0" y="406400"/>
                  </a:cubicBezTo>
                  <a:cubicBezTo>
                    <a:pt x="0" y="181991"/>
                    <a:pt x="181991" y="0"/>
                    <a:pt x="406400" y="0"/>
                  </a:cubicBezTo>
                  <a:close/>
                </a:path>
              </a:pathLst>
            </a:custGeom>
            <a:solidFill>
              <a:srgbClr val="0A0A0A"/>
            </a:solid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228600" lIns="228600" bIns="228600" rIns="228600"/>
            <a:lstStyle/>
            <a:p>
              <a:pPr algn="l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57400" y="4206145"/>
            <a:ext cx="6842093" cy="52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0A0A0A"/>
                </a:solidFill>
                <a:latin typeface="Poppins"/>
                <a:ea typeface="Poppins"/>
                <a:cs typeface="Poppins"/>
                <a:sym typeface="Poppins"/>
              </a:rPr>
              <a:t>Votre voix : transcrite, puis clonée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43000" y="5063395"/>
            <a:ext cx="609600" cy="60960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09" y="0"/>
                    <a:pt x="812800" y="181991"/>
                    <a:pt x="812800" y="406400"/>
                  </a:cubicBezTo>
                  <a:cubicBezTo>
                    <a:pt x="812800" y="630809"/>
                    <a:pt x="630809" y="812800"/>
                    <a:pt x="406400" y="812800"/>
                  </a:cubicBezTo>
                  <a:cubicBezTo>
                    <a:pt x="181991" y="812800"/>
                    <a:pt x="0" y="630809"/>
                    <a:pt x="0" y="406400"/>
                  </a:cubicBezTo>
                  <a:cubicBezTo>
                    <a:pt x="0" y="181991"/>
                    <a:pt x="181991" y="0"/>
                    <a:pt x="406400" y="0"/>
                  </a:cubicBezTo>
                  <a:close/>
                </a:path>
              </a:pathLst>
            </a:custGeom>
            <a:solidFill>
              <a:srgbClr val="0A0A0A"/>
            </a:solid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228600" lIns="228600" bIns="228600" rIns="228600"/>
            <a:lstStyle/>
            <a:p>
              <a:pPr algn="l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57400" y="5120545"/>
            <a:ext cx="9187720" cy="52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0A0A0A"/>
                </a:solidFill>
                <a:latin typeface="Poppins"/>
                <a:ea typeface="Poppins"/>
                <a:cs typeface="Poppins"/>
                <a:sym typeface="Poppins"/>
              </a:rPr>
              <a:t>Basculer sur le Fongbé, mesurer, écouter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3000" y="8782050"/>
            <a:ext cx="16002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Arimo"/>
                <a:ea typeface="Arimo"/>
                <a:cs typeface="Arimo"/>
                <a:sym typeface="Arimo"/>
              </a:rPr>
              <a:t>Tout est ici : github.com/Arnel7/de-la-lettre-au-son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6F5F1"/>
          </a:solid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524000" y="3052572"/>
            <a:ext cx="152400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50"/>
              </a:lnSpc>
            </a:pPr>
            <a:r>
              <a:rPr lang="en-US" b="true" sz="2550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"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24000" y="4100322"/>
            <a:ext cx="14287500" cy="261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5"/>
              </a:lnSpc>
            </a:pPr>
            <a:r>
              <a:rPr lang="en-US" b="true" sz="5700" spc="-114">
                <a:solidFill>
                  <a:srgbClr val="0A0A0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Trente secondes suffisent pour la voix. Pour la langue, il me manque un corpus tonné qui n'existe pas encore.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008751"/>
          </a:solid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7988903" y="3389090"/>
            <a:ext cx="231000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b="true" sz="1950" spc="351">
                <a:solidFill>
                  <a:srgbClr val="FCD116"/>
                </a:solidFill>
                <a:latin typeface="Poppins Bold"/>
                <a:ea typeface="Poppins Bold"/>
                <a:cs typeface="Poppins Bold"/>
                <a:sym typeface="Poppins Bold"/>
              </a:rPr>
              <a:t>3 MINUTES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76500" y="4008215"/>
            <a:ext cx="13335000" cy="180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9"/>
              </a:lnSpc>
            </a:pPr>
            <a:r>
              <a:rPr lang="en-US" b="true" sz="5700" spc="-1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Trois voix. Trente secondes chacune.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309360"/>
            <a:ext cx="1600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Vous n'avez pas encore lancé la première cellule ? C'est le moment.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143000" y="990600"/>
            <a:ext cx="16002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351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GO FURTHER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3000" y="1600200"/>
            <a:ext cx="16002000" cy="8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5"/>
              </a:lnSpc>
            </a:pPr>
            <a:r>
              <a:rPr lang="en-US" b="true" sz="6300" spc="-157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Ressources.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1143000" y="3868960"/>
            <a:ext cx="16002000" cy="9525"/>
          </a:xfrm>
          <a:prstGeom prst="rect">
            <a:avLst/>
          </a:prstGeom>
          <a:solidFill>
            <a:srgbClr val="E6E6E6"/>
          </a:solidFill>
        </p:spPr>
        <p:txBody>
          <a:bodyPr/>
          <a:p/>
        </p:txBody>
      </p:sp>
      <p:grpSp>
        <p:nvGrpSpPr>
          <p:cNvPr name="Group 6" id="6"/>
          <p:cNvGrpSpPr/>
          <p:nvPr/>
        </p:nvGrpSpPr>
        <p:grpSpPr>
          <a:xfrm rot="0">
            <a:off x="1143000" y="3259360"/>
            <a:ext cx="1030891" cy="342900"/>
            <a:chOff x="0" y="0"/>
            <a:chExt cx="1374521" cy="45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4521" cy="457200"/>
            </a:xfrm>
            <a:custGeom>
              <a:avLst/>
              <a:gdLst/>
              <a:ahLst/>
              <a:cxnLst/>
              <a:rect r="r" b="b" t="t" l="l"/>
              <a:pathLst>
                <a:path h="457200" w="1374521">
                  <a:moveTo>
                    <a:pt x="50800" y="0"/>
                  </a:moveTo>
                  <a:lnTo>
                    <a:pt x="1323721" y="0"/>
                  </a:lnTo>
                  <a:cubicBezTo>
                    <a:pt x="1351788" y="0"/>
                    <a:pt x="1374521" y="22733"/>
                    <a:pt x="1374521" y="50800"/>
                  </a:cubicBezTo>
                  <a:lnTo>
                    <a:pt x="1374521" y="406400"/>
                  </a:lnTo>
                  <a:cubicBezTo>
                    <a:pt x="1374521" y="434467"/>
                    <a:pt x="1351788" y="457200"/>
                    <a:pt x="1323721" y="457200"/>
                  </a:cubicBezTo>
                  <a:lnTo>
                    <a:pt x="50800" y="457200"/>
                  </a:lnTo>
                  <a:cubicBezTo>
                    <a:pt x="22733" y="457200"/>
                    <a:pt x="0" y="434467"/>
                    <a:pt x="0" y="4064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008751"/>
            </a:solid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374521" cy="514350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PAPER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516791" y="3164110"/>
            <a:ext cx="1284446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0A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Lire et compter en fongbé, p. 15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04153" y="3278410"/>
            <a:ext cx="144084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B5B5B"/>
                </a:solidFill>
                <a:latin typeface="Poppins"/>
                <a:ea typeface="Poppins"/>
                <a:cs typeface="Poppins"/>
                <a:sym typeface="Poppins"/>
              </a:rPr>
              <a:t>La phrase à six sens</a:t>
            </a:r>
          </a:p>
        </p:txBody>
      </p:sp>
      <p:sp>
        <p:nvSpPr>
          <p:cNvPr name="AutoShape 11" id="11"/>
          <p:cNvSpPr/>
          <p:nvPr/>
        </p:nvSpPr>
        <p:spPr>
          <a:xfrm rot="0">
            <a:off x="1143000" y="4773835"/>
            <a:ext cx="16002000" cy="9525"/>
          </a:xfrm>
          <a:prstGeom prst="rect">
            <a:avLst/>
          </a:prstGeom>
          <a:solidFill>
            <a:srgbClr val="E6E6E6"/>
          </a:solidFill>
        </p:spPr>
        <p:txBody>
          <a:bodyPr/>
          <a:p/>
        </p:txBody>
      </p:sp>
      <p:grpSp>
        <p:nvGrpSpPr>
          <p:cNvPr name="Group 12" id="12"/>
          <p:cNvGrpSpPr/>
          <p:nvPr/>
        </p:nvGrpSpPr>
        <p:grpSpPr>
          <a:xfrm rot="0">
            <a:off x="1143000" y="4164235"/>
            <a:ext cx="899541" cy="342900"/>
            <a:chOff x="0" y="0"/>
            <a:chExt cx="1199388" cy="457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99388" cy="457200"/>
            </a:xfrm>
            <a:custGeom>
              <a:avLst/>
              <a:gdLst/>
              <a:ahLst/>
              <a:cxnLst/>
              <a:rect r="r" b="b" t="t" l="l"/>
              <a:pathLst>
                <a:path h="457200" w="1199388">
                  <a:moveTo>
                    <a:pt x="50800" y="0"/>
                  </a:moveTo>
                  <a:lnTo>
                    <a:pt x="1148588" y="0"/>
                  </a:lnTo>
                  <a:cubicBezTo>
                    <a:pt x="1176655" y="0"/>
                    <a:pt x="1199388" y="22733"/>
                    <a:pt x="1199388" y="50800"/>
                  </a:cubicBezTo>
                  <a:lnTo>
                    <a:pt x="1199388" y="406400"/>
                  </a:lnTo>
                  <a:cubicBezTo>
                    <a:pt x="1199388" y="434467"/>
                    <a:pt x="1176655" y="457200"/>
                    <a:pt x="1148588" y="457200"/>
                  </a:cubicBezTo>
                  <a:lnTo>
                    <a:pt x="50800" y="457200"/>
                  </a:lnTo>
                  <a:cubicBezTo>
                    <a:pt x="22733" y="457200"/>
                    <a:pt x="0" y="434467"/>
                    <a:pt x="0" y="4064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FCD116"/>
            </a:solid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199388" cy="514350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520"/>
                </a:lnSpc>
              </a:pPr>
              <a:r>
                <a:rPr lang="en-US" b="true" sz="1800">
                  <a:solidFill>
                    <a:srgbClr val="0A0A0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REPO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385441" y="4068985"/>
            <a:ext cx="1297590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0A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github.com/Arnel7/fongbe-g2p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04153" y="4183285"/>
            <a:ext cx="144084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B5B5B"/>
                </a:solidFill>
                <a:latin typeface="Poppins"/>
                <a:ea typeface="Poppins"/>
                <a:cs typeface="Poppins"/>
                <a:sym typeface="Poppins"/>
              </a:rPr>
              <a:t>Graphème → phonème</a:t>
            </a:r>
          </a:p>
        </p:txBody>
      </p:sp>
      <p:sp>
        <p:nvSpPr>
          <p:cNvPr name="AutoShape 17" id="17"/>
          <p:cNvSpPr/>
          <p:nvPr/>
        </p:nvSpPr>
        <p:spPr>
          <a:xfrm rot="0">
            <a:off x="1143000" y="5678710"/>
            <a:ext cx="16002000" cy="9525"/>
          </a:xfrm>
          <a:prstGeom prst="rect">
            <a:avLst/>
          </a:prstGeom>
          <a:solidFill>
            <a:srgbClr val="E6E6E6"/>
          </a:solidFill>
        </p:spPr>
        <p:txBody>
          <a:bodyPr/>
          <a:p/>
        </p:txBody>
      </p:sp>
      <p:grpSp>
        <p:nvGrpSpPr>
          <p:cNvPr name="Group 18" id="18"/>
          <p:cNvGrpSpPr/>
          <p:nvPr/>
        </p:nvGrpSpPr>
        <p:grpSpPr>
          <a:xfrm rot="0">
            <a:off x="1143000" y="5069110"/>
            <a:ext cx="1341977" cy="342900"/>
            <a:chOff x="0" y="0"/>
            <a:chExt cx="1789303" cy="457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89303" cy="457200"/>
            </a:xfrm>
            <a:custGeom>
              <a:avLst/>
              <a:gdLst/>
              <a:ahLst/>
              <a:cxnLst/>
              <a:rect r="r" b="b" t="t" l="l"/>
              <a:pathLst>
                <a:path h="457200" w="1789303">
                  <a:moveTo>
                    <a:pt x="50800" y="0"/>
                  </a:moveTo>
                  <a:lnTo>
                    <a:pt x="1738503" y="0"/>
                  </a:lnTo>
                  <a:cubicBezTo>
                    <a:pt x="1766570" y="0"/>
                    <a:pt x="1789303" y="22733"/>
                    <a:pt x="1789303" y="50800"/>
                  </a:cubicBezTo>
                  <a:lnTo>
                    <a:pt x="1789303" y="406400"/>
                  </a:lnTo>
                  <a:cubicBezTo>
                    <a:pt x="1789303" y="434467"/>
                    <a:pt x="1766570" y="457200"/>
                    <a:pt x="1738503" y="457200"/>
                  </a:cubicBezTo>
                  <a:lnTo>
                    <a:pt x="50800" y="457200"/>
                  </a:lnTo>
                  <a:cubicBezTo>
                    <a:pt x="22733" y="457200"/>
                    <a:pt x="0" y="434467"/>
                    <a:pt x="0" y="406400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E8112D"/>
            </a:solid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789303" cy="514350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DATASET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827877" y="4973860"/>
            <a:ext cx="1253337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b="true" sz="2550">
                <a:solidFill>
                  <a:srgbClr val="0A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Pas encore constitué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704153" y="5088160"/>
            <a:ext cx="144084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B5B5B"/>
                </a:solidFill>
                <a:latin typeface="Poppins"/>
                <a:ea typeface="Poppins"/>
                <a:cs typeface="Poppins"/>
                <a:sym typeface="Poppins"/>
              </a:rPr>
              <a:t>Ce que je demande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43000" y="8782050"/>
            <a:ext cx="393668" cy="457200"/>
            <a:chOff x="0" y="0"/>
            <a:chExt cx="524891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25" id="25"/>
          <p:cNvSpPr txBox="true"/>
          <p:nvPr/>
        </p:nvSpPr>
        <p:spPr>
          <a:xfrm rot="0">
            <a:off x="1689068" y="8858250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498157" y="8767762"/>
            <a:ext cx="6468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B5B5B"/>
                </a:solidFill>
                <a:latin typeface="Arimo"/>
                <a:ea typeface="Arimo"/>
                <a:cs typeface="Arimo"/>
                <a:sym typeface="Arimo"/>
              </a:rPr>
              <a:t>14 / 16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63690" y="1259883"/>
            <a:ext cx="6921726" cy="7767233"/>
            <a:chOff x="0" y="0"/>
            <a:chExt cx="72432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4322" cy="812800"/>
            </a:xfrm>
            <a:custGeom>
              <a:avLst/>
              <a:gdLst/>
              <a:ahLst/>
              <a:cxnLst/>
              <a:rect r="r" b="b" t="t" l="l"/>
              <a:pathLst>
                <a:path h="812800" w="724322">
                  <a:moveTo>
                    <a:pt x="25725" y="0"/>
                  </a:moveTo>
                  <a:lnTo>
                    <a:pt x="698597" y="0"/>
                  </a:lnTo>
                  <a:cubicBezTo>
                    <a:pt x="705420" y="0"/>
                    <a:pt x="711963" y="2710"/>
                    <a:pt x="716787" y="7535"/>
                  </a:cubicBezTo>
                  <a:cubicBezTo>
                    <a:pt x="721612" y="12359"/>
                    <a:pt x="724322" y="18903"/>
                    <a:pt x="724322" y="25725"/>
                  </a:cubicBezTo>
                  <a:lnTo>
                    <a:pt x="724322" y="787075"/>
                  </a:lnTo>
                  <a:cubicBezTo>
                    <a:pt x="724322" y="793897"/>
                    <a:pt x="721612" y="800441"/>
                    <a:pt x="716787" y="805265"/>
                  </a:cubicBezTo>
                  <a:cubicBezTo>
                    <a:pt x="711963" y="810090"/>
                    <a:pt x="705420" y="812800"/>
                    <a:pt x="698597" y="812800"/>
                  </a:cubicBezTo>
                  <a:lnTo>
                    <a:pt x="25725" y="812800"/>
                  </a:lnTo>
                  <a:cubicBezTo>
                    <a:pt x="18903" y="812800"/>
                    <a:pt x="12359" y="810090"/>
                    <a:pt x="7535" y="805265"/>
                  </a:cubicBezTo>
                  <a:cubicBezTo>
                    <a:pt x="2710" y="800441"/>
                    <a:pt x="0" y="793897"/>
                    <a:pt x="0" y="787075"/>
                  </a:cubicBezTo>
                  <a:lnTo>
                    <a:pt x="0" y="25725"/>
                  </a:lnTo>
                  <a:cubicBezTo>
                    <a:pt x="0" y="18903"/>
                    <a:pt x="2710" y="12359"/>
                    <a:pt x="7535" y="7535"/>
                  </a:cubicBezTo>
                  <a:cubicBezTo>
                    <a:pt x="12359" y="2710"/>
                    <a:pt x="18903" y="0"/>
                    <a:pt x="25725" y="0"/>
                  </a:cubicBezTo>
                  <a:close/>
                </a:path>
              </a:pathLst>
            </a:custGeom>
            <a:blipFill>
              <a:blip r:embed="rId3"/>
              <a:stretch>
                <a:fillRect l="-87868" t="0" r="-100083" b="0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9804500" y="1594104"/>
            <a:ext cx="4978822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351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L'INTERVENANT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04500" y="2365629"/>
            <a:ext cx="6388000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0"/>
              </a:lnSpc>
            </a:pPr>
            <a:r>
              <a:rPr lang="en-US" b="true" sz="5700" spc="-114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LAWSON Arnel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04500" y="4015169"/>
            <a:ext cx="497882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5B5B5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Machine Learning Engineer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04500" y="7825169"/>
            <a:ext cx="4978822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8751"/>
                </a:solidFill>
                <a:latin typeface="Arimo"/>
                <a:ea typeface="Arimo"/>
                <a:cs typeface="Arimo"/>
                <a:sym typeface="Arimo"/>
              </a:rPr>
              <a:t>arnellawson7@gmail.com · github.com/Arnel7</a:t>
            </a:r>
          </a:p>
        </p:txBody>
      </p:sp>
      <p:pic>
        <p:nvPicPr>
          <p:cNvPr id="9" name="Picture 8" descr="photo-laws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1261872"/>
            <a:ext cx="6922008" cy="77632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333500" y="1181100"/>
            <a:ext cx="15621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351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MERCI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1885950"/>
            <a:ext cx="15621000" cy="1366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12"/>
              </a:lnSpc>
            </a:pPr>
            <a:r>
              <a:rPr lang="en-US" b="true" sz="12750" spc="-382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Des questions 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33500" y="5493544"/>
            <a:ext cx="3090386" cy="857250"/>
            <a:chOff x="0" y="0"/>
            <a:chExt cx="4120515" cy="1143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20515" cy="1143000"/>
            </a:xfrm>
            <a:custGeom>
              <a:avLst/>
              <a:gdLst/>
              <a:ahLst/>
              <a:cxnLst/>
              <a:rect r="r" b="b" t="t" l="l"/>
              <a:pathLst>
                <a:path h="1143000" w="4120515">
                  <a:moveTo>
                    <a:pt x="571500" y="0"/>
                  </a:moveTo>
                  <a:lnTo>
                    <a:pt x="3549015" y="0"/>
                  </a:lnTo>
                  <a:cubicBezTo>
                    <a:pt x="3864610" y="0"/>
                    <a:pt x="4120515" y="255905"/>
                    <a:pt x="4120515" y="571500"/>
                  </a:cubicBezTo>
                  <a:cubicBezTo>
                    <a:pt x="4120515" y="887095"/>
                    <a:pt x="3864610" y="1143000"/>
                    <a:pt x="3549015" y="1143000"/>
                  </a:cubicBezTo>
                  <a:lnTo>
                    <a:pt x="571500" y="1143000"/>
                  </a:lnTo>
                  <a:cubicBezTo>
                    <a:pt x="255905" y="1143000"/>
                    <a:pt x="0" y="887095"/>
                    <a:pt x="0" y="571500"/>
                  </a:cubicBezTo>
                  <a:cubicBezTo>
                    <a:pt x="0" y="255905"/>
                    <a:pt x="255905" y="0"/>
                    <a:pt x="571500" y="0"/>
                  </a:cubicBezTo>
                  <a:close/>
                </a:path>
              </a:pathLst>
            </a:custGeom>
            <a:solidFill>
              <a:srgbClr val="008751"/>
            </a:solidFill>
          </p:spPr>
          <p:txBody>
            <a:bodyPr/>
            <a:p/>
          </p:txBody>
        </p:sp>
      </p:grpSp>
      <p:sp>
        <p:nvSpPr>
          <p:cNvPr name="TextBox 7" id="7"/>
          <p:cNvSpPr txBox="true"/>
          <p:nvPr/>
        </p:nvSpPr>
        <p:spPr>
          <a:xfrm rot="0">
            <a:off x="1752600" y="5655469"/>
            <a:ext cx="162353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b="true" sz="28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Parlons-en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47586" y="6007894"/>
            <a:ext cx="457200" cy="2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3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→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45826" y="5493544"/>
            <a:ext cx="310877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b="true" sz="1800">
                <a:solidFill>
                  <a:srgbClr val="0A0A0A"/>
                </a:solidFill>
                <a:latin typeface="Arimo Bold"/>
                <a:ea typeface="Arimo Bold"/>
                <a:cs typeface="Arimo Bold"/>
                <a:sym typeface="Arimo Bold"/>
              </a:rPr>
              <a:t>arnellawson7@gmail.com</a:t>
            </a:r>
          </a:p>
          <a:p>
            <a:pPr algn="r"/>
            <a:r>
              <a:rPr lang="en-US" b="true" sz="1800">
                <a:solidFill>
                  <a:srgbClr val="0A0A0A"/>
                </a:solidFill>
                <a:latin typeface="Arimo Bold"/>
                <a:ea typeface="Arimo Bold"/>
                <a:cs typeface="Arimo Bold"/>
                <a:sym typeface="Arimo Bold"/>
              </a:rPr>
              <a:t>github.com/Arnel7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33500" y="8591550"/>
            <a:ext cx="393668" cy="457200"/>
            <a:chOff x="0" y="0"/>
            <a:chExt cx="524891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2" id="12"/>
          <p:cNvSpPr txBox="true"/>
          <p:nvPr/>
        </p:nvSpPr>
        <p:spPr>
          <a:xfrm rot="0">
            <a:off x="1879568" y="8667750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07657" y="8577262"/>
            <a:ext cx="6468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B5B5B"/>
                </a:solidFill>
                <a:latin typeface="Arimo"/>
                <a:ea typeface="Arimo"/>
                <a:cs typeface="Arimo"/>
                <a:sym typeface="Arimo"/>
              </a:rPr>
              <a:t>16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143000" y="990600"/>
            <a:ext cx="16002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351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COMMENT ÇA MARCHE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3000" y="1571625"/>
            <a:ext cx="15240000" cy="81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6000" spc="-1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Deux chemins du texte au son.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8782050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89068" y="8858250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98157" y="8767762"/>
            <a:ext cx="6468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B5B5B"/>
                </a:solidFill>
                <a:latin typeface="Arimo"/>
                <a:ea typeface="Arimo"/>
                <a:cs typeface="Arimo"/>
                <a:sym typeface="Arimo"/>
              </a:rPr>
              <a:t>04 / 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83480"/>
            <a:ext cx="210312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983480"/>
            <a:ext cx="2103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A0A0A"/>
                </a:solidFill>
                <a:latin typeface="Poppins"/>
              </a:rPr>
              <a:t>TEXTE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983480"/>
            <a:ext cx="548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5B5B5B"/>
                </a:solidFill>
                <a:latin typeface="Poppin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4983480"/>
            <a:ext cx="28346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5047488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A0A0A"/>
                </a:solidFill>
                <a:latin typeface="Poppins"/>
              </a:rPr>
              <a:t>GRAPHÈMES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5504688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5B5B5B"/>
                </a:solidFill>
                <a:latin typeface="Arimo"/>
              </a:rPr>
              <a:t>gb · kp · ny · tons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812280" y="4114800"/>
            <a:ext cx="1005840" cy="1371600"/>
          </a:xfrm>
          <a:prstGeom prst="line">
            <a:avLst/>
          </a:prstGeom>
          <a:ln w="22225">
            <a:solidFill>
              <a:srgbClr val="5B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12280" y="5486400"/>
            <a:ext cx="1005840" cy="1325880"/>
          </a:xfrm>
          <a:prstGeom prst="line">
            <a:avLst/>
          </a:prstGeom>
          <a:ln w="22225">
            <a:solidFill>
              <a:srgbClr val="5B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863840" y="3520440"/>
            <a:ext cx="45720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811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3584448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8112D"/>
                </a:solidFill>
                <a:latin typeface="Poppins"/>
              </a:rPr>
              <a:t>Route A : les lettres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06908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5B5B"/>
                </a:solidFill>
                <a:latin typeface="Arimo"/>
              </a:rPr>
              <a:t>rien à ouvrir, rien à corriger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6217920"/>
            <a:ext cx="45720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87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6281928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08751"/>
                </a:solidFill>
                <a:latin typeface="Poppins"/>
              </a:rPr>
              <a:t>Route B : le phonémiseur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676656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5B5B"/>
                </a:solidFill>
                <a:latin typeface="Arimo"/>
              </a:rPr>
              <a:t>chaque étape s'affiche et se corrige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2481560" y="4114800"/>
            <a:ext cx="1005840" cy="1371600"/>
          </a:xfrm>
          <a:prstGeom prst="line">
            <a:avLst/>
          </a:prstGeom>
          <a:ln w="22225">
            <a:solidFill>
              <a:srgbClr val="5B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2481560" y="5486400"/>
            <a:ext cx="1005840" cy="1325880"/>
          </a:xfrm>
          <a:prstGeom prst="line">
            <a:avLst/>
          </a:prstGeom>
          <a:ln w="22225">
            <a:solidFill>
              <a:srgbClr val="5B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3578840" y="4983480"/>
            <a:ext cx="17373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B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78840" y="4983480"/>
            <a:ext cx="1737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5B5B5B"/>
                </a:solidFill>
                <a:latin typeface="Poppins"/>
              </a:rPr>
              <a:t>MEL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361920" y="4983480"/>
            <a:ext cx="5029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5B5B5B"/>
                </a:solidFill>
                <a:latin typeface="Poppin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864840" y="4983480"/>
            <a:ext cx="12801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B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864840" y="498348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5B5B5B"/>
                </a:solidFill>
                <a:latin typeface="Poppins"/>
              </a:rPr>
              <a:t>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7589520"/>
            <a:ext cx="749807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A0A0A"/>
                </a:solidFill>
                <a:latin typeface="Arimo"/>
              </a:rPr>
              <a:t>Synthèse vocale : quels sons produire 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918704"/>
            <a:ext cx="74980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5B5B5B"/>
                </a:solidFill>
                <a:latin typeface="Arimo"/>
              </a:rPr>
              <a:t>Cela dépend de la langue : chaque langue a ses propres règles.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7589520"/>
            <a:ext cx="772667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A0A0A"/>
                </a:solidFill>
                <a:latin typeface="Arimo"/>
              </a:rPr>
              <a:t>Clonage : avec quelle voix les dire 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7918704"/>
            <a:ext cx="77266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5B5B5B"/>
                </a:solidFill>
                <a:latin typeface="Arimo"/>
              </a:rPr>
              <a:t>Cela dépend surtout du locuteur, pas de la langue. Avec un modèle multilingue, une même voix peut traverser les langues.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143000" y="990600"/>
            <a:ext cx="16002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351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L'ARCHITECTURE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3000" y="1571625"/>
            <a:ext cx="15240000" cy="81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6000" spc="-1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Pas un script. Six pièces.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8782050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89068" y="8858250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98157" y="8767762"/>
            <a:ext cx="6468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B5B5B"/>
                </a:solidFill>
                <a:latin typeface="Arimo"/>
                <a:ea typeface="Arimo"/>
                <a:cs typeface="Arimo"/>
                <a:sym typeface="Arimo"/>
              </a:rPr>
              <a:t>05 /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880360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5B5B"/>
                </a:solidFill>
                <a:latin typeface="Arimo"/>
              </a:rPr>
              <a:t>FRANÇAIS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78640" y="288036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5B5B"/>
                </a:solidFill>
                <a:latin typeface="Arimo"/>
              </a:rPr>
              <a:t>FONGBÉ  ·  fongbe_g2p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43000" y="3383280"/>
            <a:ext cx="16002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43000" y="3429000"/>
            <a:ext cx="548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8751"/>
                </a:solidFill>
                <a:latin typeface="Poppin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42900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0A0A0A"/>
                </a:solidFill>
                <a:latin typeface="Poppins"/>
              </a:rPr>
              <a:t>Normaliser le texte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429000"/>
            <a:ext cx="3840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5B5B5B"/>
                </a:solidFill>
                <a:latin typeface="Arimo"/>
              </a:rPr>
              <a:t>✓ gruut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78640" y="3429000"/>
            <a:ext cx="4937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A0A0A"/>
                </a:solidFill>
                <a:latin typeface="Arimo"/>
              </a:rPr>
              <a:t>✓ 15 homoglyphes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3000" y="4133088"/>
            <a:ext cx="16002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43000" y="4178808"/>
            <a:ext cx="548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8751"/>
                </a:solidFill>
                <a:latin typeface="Poppin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178808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0A0A0A"/>
                </a:solidFill>
                <a:latin typeface="Poppins"/>
              </a:rPr>
              <a:t>Découper en unités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178808"/>
            <a:ext cx="3840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5B5B5B"/>
                </a:solidFill>
                <a:latin typeface="Arimo"/>
              </a:rPr>
              <a:t>✓ gruut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78640" y="4178808"/>
            <a:ext cx="4937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A0A0A"/>
                </a:solidFill>
                <a:latin typeface="Arimo"/>
              </a:rPr>
              <a:t>✓ 24 consonnes, gb kp ny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43000" y="4882896"/>
            <a:ext cx="16002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43000" y="4928616"/>
            <a:ext cx="548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8751"/>
                </a:solidFill>
                <a:latin typeface="Poppi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4928616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0A0A0A"/>
                </a:solidFill>
                <a:latin typeface="Poppins"/>
              </a:rPr>
              <a:t>Chercher dans le lexique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928616"/>
            <a:ext cx="3840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5B5B5B"/>
                </a:solidFill>
                <a:latin typeface="Arimo"/>
              </a:rPr>
              <a:t>✓ 90 114 mots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78640" y="4928616"/>
            <a:ext cx="4937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8112D"/>
                </a:solidFill>
                <a:latin typeface="Arimo"/>
              </a:rPr>
              <a:t>✗ rien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43000" y="5632704"/>
            <a:ext cx="16002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143000" y="5678424"/>
            <a:ext cx="548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8751"/>
                </a:solidFill>
                <a:latin typeface="Poppin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3080" y="5678424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0A0A0A"/>
                </a:solidFill>
                <a:latin typeface="Poppins"/>
              </a:rPr>
              <a:t>Deviner si le mot manque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5678424"/>
            <a:ext cx="3840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5B5B5B"/>
                </a:solidFill>
                <a:latin typeface="Arimo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978640" y="5678424"/>
            <a:ext cx="4937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A0A0A"/>
                </a:solidFill>
                <a:latin typeface="Arimo"/>
              </a:rPr>
              <a:t>✓ règles, 7 voyelles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143000" y="6382512"/>
            <a:ext cx="16002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143000" y="6428232"/>
            <a:ext cx="548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8751"/>
                </a:solidFill>
                <a:latin typeface="Poppin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3080" y="6428232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0A0A0A"/>
                </a:solidFill>
                <a:latin typeface="Poppins"/>
              </a:rPr>
              <a:t>Traiter les tons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6428232"/>
            <a:ext cx="3840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5B5B5B"/>
                </a:solidFill>
                <a:latin typeface="Arimo"/>
              </a:rPr>
              <a:t>sans objet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978640" y="6428232"/>
            <a:ext cx="4937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A0A0A"/>
                </a:solidFill>
                <a:latin typeface="Arimo"/>
              </a:rPr>
              <a:t>✓ 4 tons, nasalisation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43000" y="7132320"/>
            <a:ext cx="16002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43000" y="7178040"/>
            <a:ext cx="548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8751"/>
                </a:solidFill>
                <a:latin typeface="Poppins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83080" y="717804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0A0A0A"/>
                </a:solidFill>
                <a:latin typeface="Poppins"/>
              </a:rPr>
              <a:t>Post-traiter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7178040"/>
            <a:ext cx="3840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5B5B5B"/>
                </a:solidFill>
                <a:latin typeface="Arimo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978640" y="7178040"/>
            <a:ext cx="4937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A0A0A"/>
                </a:solidFill>
                <a:latin typeface="Arimo"/>
              </a:rPr>
              <a:t>~ sandhi, brouillon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143000" y="7882127"/>
            <a:ext cx="16002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143000" y="7973568"/>
            <a:ext cx="16002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A0A0A"/>
                </a:solidFill>
                <a:latin typeface="Arimo"/>
              </a:rPr>
              <a:t>Cinq pièces sur six existent pour le Fongbé. Je les ai écrites. Il manque le dictionnaire.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" y="8339327"/>
            <a:ext cx="1600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5B5B"/>
                </a:solidFill>
                <a:latin typeface="Arimo"/>
              </a:rPr>
              <a:t>Règles d'après G. Guillet, Principes de l'écriture et de la lecture de la langue Fon.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143000" y="990600"/>
            <a:ext cx="16002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351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LA DIFFÉRENCE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3000" y="1571625"/>
            <a:ext cx="15240000" cy="81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6000" spc="-1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Une phrase écrite. Six sens.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8782050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89068" y="8858250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98157" y="8767762"/>
            <a:ext cx="6468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B5B5B"/>
                </a:solidFill>
                <a:latin typeface="Arimo"/>
                <a:ea typeface="Arimo"/>
                <a:cs typeface="Arimo"/>
                <a:sym typeface="Arimo"/>
              </a:rPr>
              <a:t>08 /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788920"/>
            <a:ext cx="7315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1">
                <a:solidFill>
                  <a:srgbClr val="0A0A0A"/>
                </a:solidFill>
                <a:latin typeface="Poppins"/>
              </a:rPr>
              <a:t>E ɖɔ nu 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2044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B5B5B"/>
                </a:solidFill>
                <a:latin typeface="Arimo"/>
              </a:rPr>
              <a:t>ce qu'on écrit vraiment : une seule prononciation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526280"/>
            <a:ext cx="3108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08751"/>
                </a:solidFill>
                <a:latin typeface="Poppins"/>
              </a:rPr>
              <a:t>É ɖɔ̀ nú mì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526280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A0A0A"/>
                </a:solidFill>
                <a:latin typeface="Arimo"/>
              </a:rPr>
              <a:t>Il m'a 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526280"/>
            <a:ext cx="3108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08751"/>
                </a:solidFill>
                <a:latin typeface="Poppins"/>
              </a:rPr>
              <a:t>È ɖɔ̀ nú mì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0" y="4526280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A0A0A"/>
                </a:solidFill>
                <a:latin typeface="Arimo"/>
              </a:rPr>
              <a:t>On m'a 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532120"/>
            <a:ext cx="3108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08751"/>
                </a:solidFill>
                <a:latin typeface="Poppins"/>
              </a:rPr>
              <a:t>É ɖɔ̀ nú 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532120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A0A0A"/>
                </a:solidFill>
                <a:latin typeface="Arimo"/>
              </a:rPr>
              <a:t>Il vous a 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5532120"/>
            <a:ext cx="3108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08751"/>
                </a:solidFill>
                <a:latin typeface="Poppins"/>
              </a:rPr>
              <a:t>È ɖɔ̀ nú 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35840" y="5532120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A0A0A"/>
                </a:solidFill>
                <a:latin typeface="Arimo"/>
              </a:rPr>
              <a:t>On vous a 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6537960"/>
            <a:ext cx="3108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08751"/>
                </a:solidFill>
                <a:latin typeface="Poppins"/>
              </a:rPr>
              <a:t>É ɖɔ̀ nú mǐ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6537960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A0A0A"/>
                </a:solidFill>
                <a:latin typeface="Arimo"/>
              </a:rPr>
              <a:t>Il nous a 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6537960"/>
            <a:ext cx="3108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08751"/>
                </a:solidFill>
                <a:latin typeface="Poppins"/>
              </a:rPr>
              <a:t>È ɖɔ̀ nú mǐ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35840" y="6537960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A0A0A"/>
                </a:solidFill>
                <a:latin typeface="Arimo"/>
              </a:rPr>
              <a:t>On nous a 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360920"/>
            <a:ext cx="502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400" b="1">
                <a:solidFill>
                  <a:srgbClr val="008751"/>
                </a:solidFill>
                <a:latin typeface="Poppins"/>
              </a:rPr>
              <a:t>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7406640"/>
            <a:ext cx="15361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A0A0A"/>
                </a:solidFill>
                <a:latin typeface="Poppins"/>
              </a:rPr>
              <a:t>En français, un dictionnaire et une étiquette grammaticale suffisent à trancher.</a:t>
            </a:r>
          </a:p>
          <a:p>
            <a:pPr algn="l"/>
            <a:r>
              <a:rPr sz="2400" b="0">
                <a:solidFill>
                  <a:srgbClr val="0A0A0A"/>
                </a:solidFill>
                <a:latin typeface="Poppins"/>
              </a:rPr>
              <a:t>Ici, il faudrait le ton. Personne ne l'écrit, donc aucun corpus ne le note.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8275320"/>
            <a:ext cx="15361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5B5B"/>
                </a:solidFill>
                <a:latin typeface="Arimo"/>
              </a:rPr>
              <a:t>Six sens pour une seule graphie. Source : Lire et compter en fongbé, p. 15.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143000" y="990600"/>
            <a:ext cx="16002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351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EN CHIFFRES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3000" y="1600200"/>
            <a:ext cx="14287500" cy="1641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5"/>
              </a:lnSpc>
            </a:pPr>
            <a:r>
              <a:rPr lang="en-US" b="true" sz="6300" spc="-157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Vous l'avez vu. Voici l'échelle.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43000" y="8782050"/>
            <a:ext cx="393668" cy="457200"/>
            <a:chOff x="0" y="0"/>
            <a:chExt cx="524891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7" id="7"/>
          <p:cNvSpPr txBox="true"/>
          <p:nvPr/>
        </p:nvSpPr>
        <p:spPr>
          <a:xfrm rot="0">
            <a:off x="1689068" y="8858250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98157" y="8767762"/>
            <a:ext cx="6468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B5B5B"/>
                </a:solidFill>
                <a:latin typeface="Arimo"/>
                <a:ea typeface="Arimo"/>
                <a:cs typeface="Arimo"/>
                <a:sym typeface="Arimo"/>
              </a:rPr>
              <a:t>13 / 16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38250" y="3946969"/>
            <a:ext cx="5105400" cy="4587526"/>
            <a:chOff x="0" y="0"/>
            <a:chExt cx="6807200" cy="61167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07200" cy="6116701"/>
            </a:xfrm>
            <a:custGeom>
              <a:avLst/>
              <a:gdLst/>
              <a:ahLst/>
              <a:cxnLst/>
              <a:rect r="r" b="b" t="t" l="l"/>
              <a:pathLst>
                <a:path h="6116701" w="6807200">
                  <a:moveTo>
                    <a:pt x="203200" y="0"/>
                  </a:move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5913501"/>
                  </a:lnTo>
                  <a:cubicBezTo>
                    <a:pt x="6807200" y="6025769"/>
                    <a:pt x="6716268" y="6116701"/>
                    <a:pt x="6604000" y="6116701"/>
                  </a:cubicBezTo>
                  <a:lnTo>
                    <a:pt x="203200" y="6116701"/>
                  </a:lnTo>
                  <a:cubicBezTo>
                    <a:pt x="90932" y="6116701"/>
                    <a:pt x="0" y="6025769"/>
                    <a:pt x="0" y="5913501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008751"/>
            </a:solid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3000" y="3813619"/>
            <a:ext cx="5105400" cy="4587526"/>
            <a:chOff x="0" y="0"/>
            <a:chExt cx="6807200" cy="61167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07200" cy="6116701"/>
            </a:xfrm>
            <a:custGeom>
              <a:avLst/>
              <a:gdLst/>
              <a:ahLst/>
              <a:cxnLst/>
              <a:rect r="r" b="b" t="t" l="l"/>
              <a:pathLst>
                <a:path h="6116701" w="6807200">
                  <a:moveTo>
                    <a:pt x="203200" y="0"/>
                  </a:move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5913501"/>
                  </a:lnTo>
                  <a:cubicBezTo>
                    <a:pt x="6807200" y="6025769"/>
                    <a:pt x="6716268" y="6116701"/>
                    <a:pt x="6604000" y="6116701"/>
                  </a:cubicBezTo>
                  <a:lnTo>
                    <a:pt x="203200" y="6116701"/>
                  </a:lnTo>
                  <a:cubicBezTo>
                    <a:pt x="90932" y="6116701"/>
                    <a:pt x="0" y="6025769"/>
                    <a:pt x="0" y="5913501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07200" cy="6116701"/>
            </a:xfrm>
            <a:custGeom>
              <a:avLst/>
              <a:gdLst/>
              <a:ahLst/>
              <a:cxnLst/>
              <a:rect r="r" b="b" t="t" l="l"/>
              <a:pathLst>
                <a:path h="6116701" w="6807200">
                  <a:moveTo>
                    <a:pt x="203200" y="0"/>
                  </a:move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5913501"/>
                  </a:lnTo>
                  <a:cubicBezTo>
                    <a:pt x="6807200" y="6025769"/>
                    <a:pt x="6716268" y="6116701"/>
                    <a:pt x="6604000" y="6116701"/>
                  </a:cubicBezTo>
                  <a:lnTo>
                    <a:pt x="203200" y="6116701"/>
                  </a:lnTo>
                  <a:cubicBezTo>
                    <a:pt x="90932" y="6116701"/>
                    <a:pt x="0" y="6025769"/>
                    <a:pt x="0" y="5913501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A0A0A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33525" y="4289869"/>
            <a:ext cx="43243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b="true" sz="7800" spc="-195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88,5 %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3525" y="5337619"/>
            <a:ext cx="43243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des voyelles en ton moyen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33525" y="7336345"/>
            <a:ext cx="4324350" cy="655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5B5B5B"/>
                </a:solidFill>
                <a:latin typeface="Poppins"/>
                <a:ea typeface="Poppins"/>
                <a:cs typeface="Poppins"/>
                <a:sym typeface="Poppins"/>
              </a:rPr>
              <a:t>Transcriptions de parole, sans marque.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686550" y="3946969"/>
            <a:ext cx="5105400" cy="4587526"/>
            <a:chOff x="0" y="0"/>
            <a:chExt cx="6807200" cy="61167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07200" cy="6116701"/>
            </a:xfrm>
            <a:custGeom>
              <a:avLst/>
              <a:gdLst/>
              <a:ahLst/>
              <a:cxnLst/>
              <a:rect r="r" b="b" t="t" l="l"/>
              <a:pathLst>
                <a:path h="6116701" w="6807200">
                  <a:moveTo>
                    <a:pt x="203200" y="0"/>
                  </a:move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5913501"/>
                  </a:lnTo>
                  <a:cubicBezTo>
                    <a:pt x="6807200" y="6025769"/>
                    <a:pt x="6716268" y="6116701"/>
                    <a:pt x="6604000" y="6116701"/>
                  </a:cubicBezTo>
                  <a:lnTo>
                    <a:pt x="203200" y="6116701"/>
                  </a:lnTo>
                  <a:cubicBezTo>
                    <a:pt x="90932" y="6116701"/>
                    <a:pt x="0" y="6025769"/>
                    <a:pt x="0" y="5913501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FCD116"/>
            </a:solid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91300" y="3813619"/>
            <a:ext cx="5105400" cy="4587526"/>
            <a:chOff x="0" y="0"/>
            <a:chExt cx="6807200" cy="61167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07200" cy="6116701"/>
            </a:xfrm>
            <a:custGeom>
              <a:avLst/>
              <a:gdLst/>
              <a:ahLst/>
              <a:cxnLst/>
              <a:rect r="r" b="b" t="t" l="l"/>
              <a:pathLst>
                <a:path h="6116701" w="6807200">
                  <a:moveTo>
                    <a:pt x="203200" y="0"/>
                  </a:move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5913501"/>
                  </a:lnTo>
                  <a:cubicBezTo>
                    <a:pt x="6807200" y="6025769"/>
                    <a:pt x="6716268" y="6116701"/>
                    <a:pt x="6604000" y="6116701"/>
                  </a:cubicBezTo>
                  <a:lnTo>
                    <a:pt x="203200" y="6116701"/>
                  </a:lnTo>
                  <a:cubicBezTo>
                    <a:pt x="90932" y="6116701"/>
                    <a:pt x="0" y="6025769"/>
                    <a:pt x="0" y="5913501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07200" cy="6116701"/>
            </a:xfrm>
            <a:custGeom>
              <a:avLst/>
              <a:gdLst/>
              <a:ahLst/>
              <a:cxnLst/>
              <a:rect r="r" b="b" t="t" l="l"/>
              <a:pathLst>
                <a:path h="6116701" w="6807200">
                  <a:moveTo>
                    <a:pt x="203200" y="0"/>
                  </a:move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5913501"/>
                  </a:lnTo>
                  <a:cubicBezTo>
                    <a:pt x="6807200" y="6025769"/>
                    <a:pt x="6716268" y="6116701"/>
                    <a:pt x="6604000" y="6116701"/>
                  </a:cubicBezTo>
                  <a:lnTo>
                    <a:pt x="203200" y="6116701"/>
                  </a:lnTo>
                  <a:cubicBezTo>
                    <a:pt x="90932" y="6116701"/>
                    <a:pt x="0" y="6025769"/>
                    <a:pt x="0" y="5913501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A0A0A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22" id="22"/>
          <p:cNvSpPr txBox="true"/>
          <p:nvPr/>
        </p:nvSpPr>
        <p:spPr>
          <a:xfrm rot="0">
            <a:off x="6981825" y="4289869"/>
            <a:ext cx="43243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b="true" sz="7800" spc="-195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78,4 %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81825" y="5337619"/>
            <a:ext cx="43243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sur le corpus parallèle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81825" y="7336345"/>
            <a:ext cx="4324350" cy="655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5B5B5B"/>
                </a:solidFill>
                <a:latin typeface="Poppins"/>
                <a:ea typeface="Poppins"/>
                <a:cs typeface="Poppins"/>
                <a:sym typeface="Poppins"/>
              </a:rPr>
              <a:t>Pas propre à un seul corpus.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134850" y="3946969"/>
            <a:ext cx="5105400" cy="4587526"/>
            <a:chOff x="0" y="0"/>
            <a:chExt cx="6807200" cy="611670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07200" cy="6116701"/>
            </a:xfrm>
            <a:custGeom>
              <a:avLst/>
              <a:gdLst/>
              <a:ahLst/>
              <a:cxnLst/>
              <a:rect r="r" b="b" t="t" l="l"/>
              <a:pathLst>
                <a:path h="6116701" w="6807200">
                  <a:moveTo>
                    <a:pt x="203200" y="0"/>
                  </a:move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5913501"/>
                  </a:lnTo>
                  <a:cubicBezTo>
                    <a:pt x="6807200" y="6025769"/>
                    <a:pt x="6716268" y="6116701"/>
                    <a:pt x="6604000" y="6116701"/>
                  </a:cubicBezTo>
                  <a:lnTo>
                    <a:pt x="203200" y="6116701"/>
                  </a:lnTo>
                  <a:cubicBezTo>
                    <a:pt x="90932" y="6116701"/>
                    <a:pt x="0" y="6025769"/>
                    <a:pt x="0" y="5913501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E8112D"/>
            </a:solid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039600" y="3813619"/>
            <a:ext cx="5105400" cy="4587526"/>
            <a:chOff x="0" y="0"/>
            <a:chExt cx="6807200" cy="611670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07200" cy="6116701"/>
            </a:xfrm>
            <a:custGeom>
              <a:avLst/>
              <a:gdLst/>
              <a:ahLst/>
              <a:cxnLst/>
              <a:rect r="r" b="b" t="t" l="l"/>
              <a:pathLst>
                <a:path h="6116701" w="6807200">
                  <a:moveTo>
                    <a:pt x="203200" y="0"/>
                  </a:move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5913501"/>
                  </a:lnTo>
                  <a:cubicBezTo>
                    <a:pt x="6807200" y="6025769"/>
                    <a:pt x="6716268" y="6116701"/>
                    <a:pt x="6604000" y="6116701"/>
                  </a:cubicBezTo>
                  <a:lnTo>
                    <a:pt x="203200" y="6116701"/>
                  </a:lnTo>
                  <a:cubicBezTo>
                    <a:pt x="90932" y="6116701"/>
                    <a:pt x="0" y="6025769"/>
                    <a:pt x="0" y="5913501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07200" cy="6116701"/>
            </a:xfrm>
            <a:custGeom>
              <a:avLst/>
              <a:gdLst/>
              <a:ahLst/>
              <a:cxnLst/>
              <a:rect r="r" b="b" t="t" l="l"/>
              <a:pathLst>
                <a:path h="6116701" w="6807200">
                  <a:moveTo>
                    <a:pt x="203200" y="0"/>
                  </a:move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5913501"/>
                  </a:lnTo>
                  <a:cubicBezTo>
                    <a:pt x="6807200" y="6025769"/>
                    <a:pt x="6716268" y="6116701"/>
                    <a:pt x="6604000" y="6116701"/>
                  </a:cubicBezTo>
                  <a:lnTo>
                    <a:pt x="203200" y="6116701"/>
                  </a:lnTo>
                  <a:cubicBezTo>
                    <a:pt x="90932" y="6116701"/>
                    <a:pt x="0" y="6025769"/>
                    <a:pt x="0" y="5913501"/>
                  </a:cubicBez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A0A0A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430125" y="4289869"/>
            <a:ext cx="43243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b="true" sz="7800" spc="-195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55,7 %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30125" y="5337619"/>
            <a:ext cx="43243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sur le corpus Q&amp;A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30125" y="7336345"/>
            <a:ext cx="4324350" cy="655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5B5B5B"/>
                </a:solidFill>
                <a:latin typeface="Poppins"/>
                <a:ea typeface="Poppins"/>
                <a:cs typeface="Poppins"/>
                <a:sym typeface="Poppins"/>
              </a:rPr>
              <a:t>Même là où c'est le mieux noté.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3273552"/>
            <a:ext cx="1600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5B5B5B"/>
                </a:solidFill>
                <a:latin typeface="Arimo"/>
              </a:rPr>
              <a:t>Sans corpus tonné, pas de restauration tonale. Et sans elle, une grande partie du texte réel reste inexploitable.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DAHSZyL3yQI</dc:identifier>
  <dcterms:modified xsi:type="dcterms:W3CDTF">2011-08-01T06:04:30Z</dcterms:modified>
  <cp:revision>1</cp:revision>
  <dc:title>IndabaX Bénin — Speaker Deck Template</dc:title>
</cp:coreProperties>
</file>