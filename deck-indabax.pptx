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9" r:id="rId9"/>
    <p:sldId id="268" r:id="rId38"/>
    <p:sldId id="269" r:id="rId39"/>
    <p:sldId id="260" r:id="rId10"/>
    <p:sldId id="261" r:id="rId11"/>
    <p:sldId id="270" r:id="rId40"/>
    <p:sldId id="264" r:id="rId14"/>
    <p:sldId id="262" r:id="rId12"/>
    <p:sldId id="258" r:id="rId8"/>
    <p:sldId id="263" r:id="rId13"/>
    <p:sldId id="271" r:id="rId41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Poppins Medium" charset="1" panose="00000600000000000000"/>
      <p:regular r:id="rId23"/>
    </p:embeddedFont>
    <p:embeddedFont>
      <p:font typeface="Poppins Semi-Bold" charset="1" panose="00000700000000000000"/>
      <p:regular r:id="rId24"/>
    </p:embeddedFon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theme" Target="theme/theme2.xml"/><Relationship Id="rId20" Type="http://schemas.openxmlformats.org/officeDocument/2006/relationships/notesSlide" Target="notesSlides/notesSlide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Slide" Target="notesSlides/notesSlide2.xml"/><Relationship Id="rId26" Type="http://schemas.openxmlformats.org/officeDocument/2006/relationships/font" Target="fonts/font26.fntdata"/><Relationship Id="rId27" Type="http://schemas.openxmlformats.org/officeDocument/2006/relationships/notesSlide" Target="notesSlides/notesSlide3.xml"/><Relationship Id="rId28" Type="http://schemas.openxmlformats.org/officeDocument/2006/relationships/notesSlide" Target="notesSlides/notesSlide4.xml"/><Relationship Id="rId29" Type="http://schemas.openxmlformats.org/officeDocument/2006/relationships/notesSlide" Target="notesSlides/notesSlide5.xml"/><Relationship Id="rId30" Type="http://schemas.openxmlformats.org/officeDocument/2006/relationships/notesSlide" Target="notesSlides/notesSlide6.xml"/><Relationship Id="rId31" Type="http://schemas.openxmlformats.org/officeDocument/2006/relationships/notesSlide" Target="notesSlides/notesSlide7.xml"/><Relationship Id="rId32" Type="http://schemas.openxmlformats.org/officeDocument/2006/relationships/font" Target="fonts/font32.fntdata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43000" y="1047750"/>
            <a:ext cx="738188" cy="857250"/>
            <a:chOff x="0" y="0"/>
            <a:chExt cx="984250" cy="1143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4250" cy="1143000"/>
            </a:xfrm>
            <a:custGeom>
              <a:avLst/>
              <a:gdLst/>
              <a:ahLst/>
              <a:cxnLst/>
              <a:rect r="r" b="b" t="t" l="l"/>
              <a:pathLst>
                <a:path h="1143000" w="984250">
                  <a:moveTo>
                    <a:pt x="0" y="0"/>
                  </a:moveTo>
                  <a:lnTo>
                    <a:pt x="984250" y="0"/>
                  </a:lnTo>
                  <a:lnTo>
                    <a:pt x="98425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1143000" y="4457510"/>
            <a:ext cx="16002000" cy="26197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2"/>
              </a:lnSpc>
            </a:pPr>
            <a:r>
              <a:rPr lang="en-US" b="true" sz="9600" spc="-28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 la lettre au son :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4105668" y="619908"/>
            <a:ext cx="3039332" cy="455634"/>
            <a:chOff x="0" y="0"/>
            <a:chExt cx="800483" cy="12000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0483" cy="120002"/>
            </a:xfrm>
            <a:custGeom>
              <a:avLst/>
              <a:gdLst/>
              <a:ahLst/>
              <a:cxnLst/>
              <a:rect r="r" b="b" t="t" l="l"/>
              <a:pathLst>
                <a:path h="120002" w="800483">
                  <a:moveTo>
                    <a:pt x="60001" y="0"/>
                  </a:moveTo>
                  <a:lnTo>
                    <a:pt x="740481" y="0"/>
                  </a:lnTo>
                  <a:cubicBezTo>
                    <a:pt x="756395" y="0"/>
                    <a:pt x="771656" y="6322"/>
                    <a:pt x="782909" y="17574"/>
                  </a:cubicBezTo>
                  <a:cubicBezTo>
                    <a:pt x="794161" y="28826"/>
                    <a:pt x="800483" y="44088"/>
                    <a:pt x="800483" y="60001"/>
                  </a:cubicBezTo>
                  <a:lnTo>
                    <a:pt x="800483" y="60001"/>
                  </a:lnTo>
                  <a:cubicBezTo>
                    <a:pt x="800483" y="75915"/>
                    <a:pt x="794161" y="91176"/>
                    <a:pt x="782909" y="102428"/>
                  </a:cubicBezTo>
                  <a:cubicBezTo>
                    <a:pt x="771656" y="113681"/>
                    <a:pt x="756395" y="120002"/>
                    <a:pt x="740481" y="120002"/>
                  </a:cubicBezTo>
                  <a:lnTo>
                    <a:pt x="60001" y="120002"/>
                  </a:lnTo>
                  <a:cubicBezTo>
                    <a:pt x="44088" y="120002"/>
                    <a:pt x="28826" y="113681"/>
                    <a:pt x="17574" y="102428"/>
                  </a:cubicBezTo>
                  <a:cubicBezTo>
                    <a:pt x="6322" y="91176"/>
                    <a:pt x="0" y="75915"/>
                    <a:pt x="0" y="60001"/>
                  </a:cubicBezTo>
                  <a:lnTo>
                    <a:pt x="0" y="60001"/>
                  </a:lnTo>
                  <a:cubicBezTo>
                    <a:pt x="0" y="44088"/>
                    <a:pt x="6322" y="28826"/>
                    <a:pt x="17574" y="17574"/>
                  </a:cubicBezTo>
                  <a:cubicBezTo>
                    <a:pt x="28826" y="6322"/>
                    <a:pt x="44088" y="0"/>
                    <a:pt x="60001" y="0"/>
                  </a:cubicBezTo>
                  <a:close/>
                </a:path>
              </a:pathLst>
            </a:custGeom>
            <a:solidFill>
              <a:srgbClr val="FBC418"/>
            </a:solidFill>
          </p:spPr>
          <p:txBody>
            <a:bodyPr/>
            <a:p/>
          </p:txBody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800483" cy="177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278628" y="1156178"/>
            <a:ext cx="3265499" cy="54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0"/>
              </a:lnSpc>
            </a:pP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3014" spc="-3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3014" spc="-3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43000" y="6675120"/>
            <a:ext cx="12382500" cy="556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Synthèse vocale, clonage, et ce qui manque à nos langues béninoises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000" y="8953500"/>
            <a:ext cx="731520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LAWSON Arnel · Machine Learning Engineer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984480" y="8953500"/>
            <a:ext cx="416052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true" sz="18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IndabaX Bénin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8467" y="630238"/>
            <a:ext cx="185373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b="true" sz="2000" spc="100">
                <a:solidFill>
                  <a:srgbClr val="2B2B2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35240"/>
            <a:ext cx="10972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Ouvrez le notebook, la première cellule est longue :</a:t>
            </a:r>
          </a:p>
          <a:p>
            <a:pPr algn="l"/>
            <a:r>
              <a:rPr sz="1700" b="0">
                <a:solidFill>
                  <a:srgbClr val="008751"/>
                </a:solidFill>
                <a:latin typeface="Arimo"/>
              </a:rPr>
              <a:t>colab.research.google.com/github/Arnel7/de-la-lettre-au-son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AGENDA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4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0"/>
              </a:lnSpc>
            </a:pPr>
            <a:r>
              <a:rPr lang="en-US" b="true" sz="6600" spc="-16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Ce qu'on fait aujourd'hui.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413756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143000" y="326126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76500" y="331841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Comprendre : du texte à la voix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69582" y="337556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sp>
        <p:nvSpPr>
          <p:cNvPr name="AutoShape 9" id="9"/>
          <p:cNvSpPr/>
          <p:nvPr/>
        </p:nvSpPr>
        <p:spPr>
          <a:xfrm rot="0">
            <a:off x="1143000" y="523294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143000" y="435664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476500" y="441379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Enregistrer trois voix à cloner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69582" y="447094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20 min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1143000" y="632831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143000" y="5452015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476500" y="5509165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Pratiquer : votre phonémiseur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469582" y="5566315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30 min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742369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1143000" y="6547390"/>
            <a:ext cx="95250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76500" y="6604540"/>
            <a:ext cx="1361208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Écouter les clones, et ma demande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469582" y="6661690"/>
            <a:ext cx="67541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10 min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3" id="23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4500" y="3974878"/>
            <a:ext cx="8001000" cy="1146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2"/>
              </a:lnSpc>
            </a:pPr>
            <a:r>
              <a:rPr lang="en-US" b="true" sz="3150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Ce qui se transfère d'une langue à l'autre, et ce qui ne se transfère pas.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4500" y="5426297"/>
            <a:ext cx="8001000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Deux façons de cloner une voix. Le fine-tuning réentraîne le modèle et demande des heures d'audio. Le zero-shot ne modifie aucun poids : il extrait une empreinte et s'en sert à la volée. C'est celui que nous employons.</a:t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</a:p>
          <a:p>
            <a:pPr algn="l"/>
            <a:r>
              <a:rPr lang="en-US" sz="195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Une expérience témoin : une seule variable change.</a:t>
            </a:r>
          </a:p>
        </p:txBody>
      </p:sp>
      <p:sp>
        <p:nvSpPr>
          <p:cNvPr name="AutoShape 4" id="4"/>
          <p:cNvSpPr/>
          <p:nvPr/>
        </p:nvSpPr>
        <p:spPr>
          <a:xfrm rot="0">
            <a:off x="0" y="0"/>
            <a:ext cx="8382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4762976" y="762000"/>
            <a:ext cx="3047524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0"/>
              </a:lnSpc>
            </a:pPr>
            <a:r>
              <a:rPr lang="en-US" b="true" sz="21000" spc="-840">
                <a:gradFill>
                  <a:gsLst>
                    <a:gs pos="0">
                      <a:srgbClr val="FFFFFF">
                        <a:alpha val="18000"/>
                      </a:srgbClr>
                    </a:gs>
                    <a:gs pos="100000">
                      <a:srgbClr val="FFFFFF">
                        <a:alpha val="18000"/>
                      </a:srgbClr>
                    </a:gs>
                  </a:gsLst>
                  <a:lin ang="16200000"/>
                </a:gra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2000" y="3181350"/>
            <a:ext cx="6858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QUATRIÈME PARTIE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000" y="3924300"/>
            <a:ext cx="6858000" cy="3124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50"/>
              </a:lnSpc>
            </a:pPr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Le</a:t>
            </a:r>
          </a:p>
          <a:p>
            <a:pPr algn="l"/>
            <a:r>
              <a:rPr lang="en-US" b="true" sz="9000" spc="-27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clonage.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ÉCOUTEZ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langues. Même système. Deux résultats.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03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01752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passe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301752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5B5B5B"/>
                </a:solidFill>
                <a:latin typeface="Arimo"/>
              </a:rPr>
              <a:t>une phrase qui échoue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79476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FRANÇAIS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9476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79476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338559" y="379476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59" y="379476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486400"/>
            <a:ext cx="45720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Poppins"/>
              </a:rPr>
              <a:t>FONGBÉ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548640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548640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8751"/>
                </a:solidFill>
                <a:latin typeface="Poppins"/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338559" y="5486400"/>
            <a:ext cx="47548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38559" y="5486400"/>
            <a:ext cx="47548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E8112D"/>
                </a:solidFill>
                <a:latin typeface="Poppins"/>
              </a:rPr>
              <a:t>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6675120"/>
            <a:ext cx="16002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A0A0A"/>
                </a:solidFill>
                <a:latin typeface="Poppins"/>
              </a:rPr>
              <a:t>Pourquoi puis-je réparer l'un, et pas l'autre 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dictionnaire le mieux doté ici.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06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90 114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mots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Écrits par des linguistes, pendant des années.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1 870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ont plusieurs prononciations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Les deux « couvent » en font partie.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portent la condition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colonne existe. Elle est vide, partout.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952500" y="895350"/>
            <a:ext cx="104775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LIVE DEMO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01500" y="3821430"/>
            <a:ext cx="5334000" cy="115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b="true" sz="3900" spc="-78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Le dernier mot de la dernière ligne.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01500" y="5170170"/>
            <a:ext cx="5334000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100">
                <a:solidFill>
                  <a:srgbClr val="2B2B2B"/>
                </a:solidFill>
                <a:latin typeface="Poppins"/>
                <a:ea typeface="Poppins"/>
                <a:cs typeface="Poppins"/>
                <a:sym typeface="Poppins"/>
              </a:rPr>
              <a:t>La nature des mots est identique avant et après. L'étiquetage n'a jamais été le problème.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2500" y="1428750"/>
            <a:ext cx="10477500" cy="7905750"/>
            <a:chOff x="0" y="0"/>
            <a:chExt cx="13970000" cy="10541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70000" cy="10541000"/>
            </a:xfrm>
            <a:custGeom>
              <a:avLst/>
              <a:gdLst/>
              <a:ahLst/>
              <a:cxnLst/>
              <a:rect r="r" b="b" t="t" l="l"/>
              <a:pathLst>
                <a:path h="10541000" w="13970000">
                  <a:moveTo>
                    <a:pt x="152400" y="0"/>
                  </a:moveTo>
                  <a:lnTo>
                    <a:pt x="13817600" y="0"/>
                  </a:lnTo>
                  <a:cubicBezTo>
                    <a:pt x="13901801" y="0"/>
                    <a:pt x="13970000" y="68199"/>
                    <a:pt x="13970000" y="152400"/>
                  </a:cubicBezTo>
                  <a:lnTo>
                    <a:pt x="13970000" y="10388600"/>
                  </a:lnTo>
                  <a:cubicBezTo>
                    <a:pt x="13970000" y="10472801"/>
                    <a:pt x="13901801" y="10541000"/>
                    <a:pt x="13817600" y="10541000"/>
                  </a:cubicBezTo>
                  <a:lnTo>
                    <a:pt x="152400" y="10541000"/>
                  </a:lnTo>
                  <a:cubicBezTo>
                    <a:pt x="68199" y="10541000"/>
                    <a:pt x="0" y="10472801"/>
                    <a:pt x="0" y="10388600"/>
                  </a:cubicBezTo>
                  <a:lnTo>
                    <a:pt x="0" y="152400"/>
                  </a:lnTo>
                  <a:cubicBezTo>
                    <a:pt x="0" y="68199"/>
                    <a:pt x="68199" y="0"/>
                    <a:pt x="152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1371600" y="1847850"/>
            <a:ext cx="152400" cy="152400"/>
            <a:chOff x="0" y="0"/>
            <a:chExt cx="203200" cy="203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19250" y="1847850"/>
            <a:ext cx="152400" cy="152400"/>
            <a:chOff x="0" y="0"/>
            <a:chExt cx="203200" cy="203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1866900" y="1847850"/>
            <a:ext cx="152400" cy="152400"/>
            <a:chOff x="0" y="0"/>
            <a:chExt cx="203200" cy="20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157734" y="0"/>
                    <a:pt x="203200" y="45466"/>
                    <a:pt x="203200" y="101600"/>
                  </a:cubicBezTo>
                  <a:cubicBezTo>
                    <a:pt x="203200" y="157734"/>
                    <a:pt x="157734" y="203200"/>
                    <a:pt x="101600" y="203200"/>
                  </a:cubicBezTo>
                  <a:cubicBezTo>
                    <a:pt x="45466" y="203200"/>
                    <a:pt x="0" y="157734"/>
                    <a:pt x="0" y="101600"/>
                  </a:cubicBezTo>
                  <a:cubicBezTo>
                    <a:pt x="0" y="45466"/>
                    <a:pt x="45466" y="0"/>
                    <a:pt x="101600" y="0"/>
                  </a:cubicBezTo>
                  <a:close/>
                </a:path>
              </a:pathLst>
            </a:custGeom>
            <a:solidFill>
              <a:srgbClr val="0F9D5E"/>
            </a:solid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71600" y="2200275"/>
            <a:ext cx="9639300" cy="284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« les poules du couvent couvent »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NOUN   →   kuvɑ̃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kuvɑ̃      ✗  devrait être kuv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UPDATE word_phonemes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SET role = 'gruut:VERB'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WHERE word = 'couvent'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   AND pron_order = 1;</a:t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/>
            </a:r>
          </a:p>
          <a:p>
            <a:pPr algn="l"/>
            <a:r>
              <a:rPr lang="en-US" sz="2250">
                <a:solidFill>
                  <a:srgbClr val="E6E6E6"/>
                </a:solidFill>
                <a:latin typeface="Menlo"/>
                <a:ea typeface="Arimo"/>
                <a:cs typeface="Arimo"/>
                <a:sym typeface="Arimo"/>
              </a:rPr>
              <a:t>couvent   VERB   →   kuv        ✓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337051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À VOUS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618619" y="1047750"/>
            <a:ext cx="1526381" cy="590550"/>
            <a:chOff x="0" y="0"/>
            <a:chExt cx="2035175" cy="787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35175" cy="787400"/>
            </a:xfrm>
            <a:custGeom>
              <a:avLst/>
              <a:gdLst/>
              <a:ahLst/>
              <a:cxnLst/>
              <a:rect r="r" b="b" t="t" l="l"/>
              <a:pathLst>
                <a:path h="787400" w="2035175">
                  <a:moveTo>
                    <a:pt x="393700" y="0"/>
                  </a:moveTo>
                  <a:lnTo>
                    <a:pt x="1641475" y="0"/>
                  </a:lnTo>
                  <a:cubicBezTo>
                    <a:pt x="1858899" y="0"/>
                    <a:pt x="2035175" y="176276"/>
                    <a:pt x="2035175" y="393700"/>
                  </a:cubicBezTo>
                  <a:cubicBezTo>
                    <a:pt x="2035175" y="611124"/>
                    <a:pt x="1858899" y="787400"/>
                    <a:pt x="1641475" y="787400"/>
                  </a:cubicBezTo>
                  <a:lnTo>
                    <a:pt x="393700" y="787400"/>
                  </a:lnTo>
                  <a:cubicBezTo>
                    <a:pt x="176276" y="787400"/>
                    <a:pt x="0" y="611124"/>
                    <a:pt x="0" y="393700"/>
                  </a:cubicBezTo>
                  <a:cubicBezTo>
                    <a:pt x="0" y="176276"/>
                    <a:pt x="176276" y="0"/>
                    <a:pt x="3937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035175" cy="844550"/>
            </a:xfrm>
            <a:prstGeom prst="rect">
              <a:avLst/>
            </a:prstGeom>
          </p:spPr>
          <p:txBody>
            <a:bodyPr anchor="ctr" rtlCol="false" tIns="127000" lIns="127000" bIns="127000" rIns="1270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25 minutes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143000" y="1895475"/>
            <a:ext cx="14287500" cy="80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Assemblez un phonémiseur.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143000" y="3234595"/>
            <a:ext cx="609600" cy="6096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057400" y="3291745"/>
            <a:ext cx="709984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Assembler, puis réparer une entrée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43000" y="4148995"/>
            <a:ext cx="609600" cy="609600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2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57400" y="4206145"/>
            <a:ext cx="6842093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Votre voix : transcrite, puis clonée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3000" y="5063395"/>
            <a:ext cx="609600" cy="609600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630809" y="0"/>
                    <a:pt x="812800" y="181991"/>
                    <a:pt x="812800" y="406400"/>
                  </a:cubicBezTo>
                  <a:cubicBezTo>
                    <a:pt x="812800" y="630809"/>
                    <a:pt x="630809" y="812800"/>
                    <a:pt x="406400" y="812800"/>
                  </a:cubicBezTo>
                  <a:cubicBezTo>
                    <a:pt x="181991" y="812800"/>
                    <a:pt x="0" y="630809"/>
                    <a:pt x="0" y="406400"/>
                  </a:cubicBezTo>
                  <a:cubicBezTo>
                    <a:pt x="0" y="181991"/>
                    <a:pt x="181991" y="0"/>
                    <a:pt x="4064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p/>
          </p:txBody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anchor="ctr" rtlCol="false" tIns="228600" lIns="228600" bIns="228600" rIns="228600"/>
            <a:lstStyle/>
            <a:p>
              <a:pPr algn="l">
                <a:lnSpc>
                  <a:spcPts val="2940"/>
                </a:lnSpc>
              </a:pPr>
              <a:r>
                <a:rPr lang="en-US" b="true" sz="21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3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057400" y="5120545"/>
            <a:ext cx="9187720" cy="52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0A0A0A"/>
                </a:solidFill>
                <a:latin typeface="Poppins"/>
                <a:ea typeface="Poppins"/>
                <a:cs typeface="Poppins"/>
                <a:sym typeface="Poppins"/>
              </a:rPr>
              <a:t>Basculer sur le Fongbé, mesurer, écouter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3000" y="8782050"/>
            <a:ext cx="1600200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Tout est ici : github.com/Arnel7/de-la-lettre-au-son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6F5F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524000" y="3052572"/>
            <a:ext cx="15240000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b="true" sz="2550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"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24000" y="4100322"/>
            <a:ext cx="14287500" cy="2619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5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Trente secondes suffisent pour la voix. Pour la langue, il me manque un corpus tonné qui n'existe pas encore.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008751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7988903" y="3389090"/>
            <a:ext cx="2310003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9"/>
              </a:lnSpc>
            </a:pPr>
            <a:r>
              <a:rPr lang="en-US" b="true" sz="1950" spc="351">
                <a:solidFill>
                  <a:srgbClr val="FCD116"/>
                </a:solidFill>
                <a:latin typeface="Poppins Bold"/>
                <a:ea typeface="Poppins Bold"/>
                <a:cs typeface="Poppins Bold"/>
                <a:sym typeface="Poppins Bold"/>
              </a:rPr>
              <a:t>3 MINUTES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6500" y="4008215"/>
            <a:ext cx="13335000" cy="1803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9"/>
              </a:lnSpc>
            </a:pPr>
            <a:r>
              <a:rPr lang="en-US" b="true" sz="5700" spc="-11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Trois voix. Trente secondes chacune.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309360"/>
            <a:ext cx="1600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Poppins"/>
              </a:rPr>
              <a:t>Vous n'avez pas encore lancé la première cellule ? C'est le moment.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GO FURTHER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6002000" cy="801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Ressources.</a:t>
            </a:r>
          </a:p>
        </p:txBody>
      </p:sp>
      <p:sp>
        <p:nvSpPr>
          <p:cNvPr name="AutoShape 5" id="5"/>
          <p:cNvSpPr/>
          <p:nvPr/>
        </p:nvSpPr>
        <p:spPr>
          <a:xfrm rot="0">
            <a:off x="1143000" y="386896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143000" y="3259360"/>
            <a:ext cx="1030891" cy="342900"/>
            <a:chOff x="0" y="0"/>
            <a:chExt cx="1374521" cy="457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74521" cy="457200"/>
            </a:xfrm>
            <a:custGeom>
              <a:avLst/>
              <a:gdLst/>
              <a:ahLst/>
              <a:cxnLst/>
              <a:rect r="r" b="b" t="t" l="l"/>
              <a:pathLst>
                <a:path h="457200" w="1374521">
                  <a:moveTo>
                    <a:pt x="50800" y="0"/>
                  </a:moveTo>
                  <a:lnTo>
                    <a:pt x="1323721" y="0"/>
                  </a:lnTo>
                  <a:cubicBezTo>
                    <a:pt x="1351788" y="0"/>
                    <a:pt x="1374521" y="22733"/>
                    <a:pt x="1374521" y="50800"/>
                  </a:cubicBezTo>
                  <a:lnTo>
                    <a:pt x="1374521" y="406400"/>
                  </a:lnTo>
                  <a:cubicBezTo>
                    <a:pt x="1374521" y="434467"/>
                    <a:pt x="1351788" y="457200"/>
                    <a:pt x="1323721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374521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PAPER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16791" y="3164110"/>
            <a:ext cx="1284446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Lire et compter en fongbé, p. 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704153" y="327841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La phrase à six sens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1143000" y="4773835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2" id="12"/>
          <p:cNvGrpSpPr/>
          <p:nvPr/>
        </p:nvGrpSpPr>
        <p:grpSpPr>
          <a:xfrm rot="0">
            <a:off x="1143000" y="4164235"/>
            <a:ext cx="899541" cy="342900"/>
            <a:chOff x="0" y="0"/>
            <a:chExt cx="1199388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199388" cy="457200"/>
            </a:xfrm>
            <a:custGeom>
              <a:avLst/>
              <a:gdLst/>
              <a:ahLst/>
              <a:cxnLst/>
              <a:rect r="r" b="b" t="t" l="l"/>
              <a:pathLst>
                <a:path h="457200" w="1199388">
                  <a:moveTo>
                    <a:pt x="50800" y="0"/>
                  </a:moveTo>
                  <a:lnTo>
                    <a:pt x="1148588" y="0"/>
                  </a:lnTo>
                  <a:cubicBezTo>
                    <a:pt x="1176655" y="0"/>
                    <a:pt x="1199388" y="22733"/>
                    <a:pt x="1199388" y="50800"/>
                  </a:cubicBezTo>
                  <a:lnTo>
                    <a:pt x="1199388" y="406400"/>
                  </a:lnTo>
                  <a:cubicBezTo>
                    <a:pt x="1199388" y="434467"/>
                    <a:pt x="1176655" y="457200"/>
                    <a:pt x="1148588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1199388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0A0A0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385441" y="4068985"/>
            <a:ext cx="1297590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github.com/Arnel7/fongbe-g2p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704153" y="4183285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Graphème → phonème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1143000" y="5678710"/>
            <a:ext cx="16002000" cy="9525"/>
          </a:xfrm>
          <a:prstGeom prst="rect">
            <a:avLst/>
          </a:prstGeom>
          <a:solidFill>
            <a:srgbClr val="E6E6E6"/>
          </a:solidFill>
        </p:spPr>
        <p:txBody>
          <a:bodyPr/>
          <a:p/>
        </p:txBody>
      </p:sp>
      <p:grpSp>
        <p:nvGrpSpPr>
          <p:cNvPr name="Group 18" id="18"/>
          <p:cNvGrpSpPr/>
          <p:nvPr/>
        </p:nvGrpSpPr>
        <p:grpSpPr>
          <a:xfrm rot="0">
            <a:off x="1143000" y="5069110"/>
            <a:ext cx="1341977" cy="342900"/>
            <a:chOff x="0" y="0"/>
            <a:chExt cx="1789303" cy="457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89303" cy="457200"/>
            </a:xfrm>
            <a:custGeom>
              <a:avLst/>
              <a:gdLst/>
              <a:ahLst/>
              <a:cxnLst/>
              <a:rect r="r" b="b" t="t" l="l"/>
              <a:pathLst>
                <a:path h="457200" w="1789303">
                  <a:moveTo>
                    <a:pt x="50800" y="0"/>
                  </a:moveTo>
                  <a:lnTo>
                    <a:pt x="1738503" y="0"/>
                  </a:lnTo>
                  <a:cubicBezTo>
                    <a:pt x="1766570" y="0"/>
                    <a:pt x="1789303" y="22733"/>
                    <a:pt x="1789303" y="50800"/>
                  </a:cubicBezTo>
                  <a:lnTo>
                    <a:pt x="1789303" y="406400"/>
                  </a:lnTo>
                  <a:cubicBezTo>
                    <a:pt x="1789303" y="434467"/>
                    <a:pt x="1766570" y="457200"/>
                    <a:pt x="1738503" y="457200"/>
                  </a:cubicBezTo>
                  <a:lnTo>
                    <a:pt x="50800" y="457200"/>
                  </a:lnTo>
                  <a:cubicBezTo>
                    <a:pt x="22733" y="457200"/>
                    <a:pt x="0" y="434467"/>
                    <a:pt x="0" y="406400"/>
                  </a:cubicBezTo>
                  <a:lnTo>
                    <a:pt x="0" y="50800"/>
                  </a:lnTo>
                  <a:cubicBezTo>
                    <a:pt x="0" y="22733"/>
                    <a:pt x="22733" y="0"/>
                    <a:pt x="508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1789303" cy="514350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520"/>
                </a:lnSpc>
              </a:pPr>
              <a:r>
                <a:rPr lang="en-US" b="true" sz="1800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DATASET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827877" y="4973860"/>
            <a:ext cx="12533376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b="true" sz="2550">
                <a:solidFill>
                  <a:srgbClr val="0A0A0A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Pas encore constitué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704153" y="5088160"/>
            <a:ext cx="1440847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Ce que je demande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14 / 16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63690" y="1259883"/>
            <a:ext cx="6921726" cy="7767233"/>
            <a:chOff x="0" y="0"/>
            <a:chExt cx="72432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24322" cy="812800"/>
            </a:xfrm>
            <a:custGeom>
              <a:avLst/>
              <a:gdLst/>
              <a:ahLst/>
              <a:cxnLst/>
              <a:rect r="r" b="b" t="t" l="l"/>
              <a:pathLst>
                <a:path h="812800" w="724322">
                  <a:moveTo>
                    <a:pt x="25725" y="0"/>
                  </a:moveTo>
                  <a:lnTo>
                    <a:pt x="698597" y="0"/>
                  </a:lnTo>
                  <a:cubicBezTo>
                    <a:pt x="705420" y="0"/>
                    <a:pt x="711963" y="2710"/>
                    <a:pt x="716787" y="7535"/>
                  </a:cubicBezTo>
                  <a:cubicBezTo>
                    <a:pt x="721612" y="12359"/>
                    <a:pt x="724322" y="18903"/>
                    <a:pt x="724322" y="25725"/>
                  </a:cubicBezTo>
                  <a:lnTo>
                    <a:pt x="724322" y="787075"/>
                  </a:lnTo>
                  <a:cubicBezTo>
                    <a:pt x="724322" y="793897"/>
                    <a:pt x="721612" y="800441"/>
                    <a:pt x="716787" y="805265"/>
                  </a:cubicBezTo>
                  <a:cubicBezTo>
                    <a:pt x="711963" y="810090"/>
                    <a:pt x="705420" y="812800"/>
                    <a:pt x="698597" y="812800"/>
                  </a:cubicBezTo>
                  <a:lnTo>
                    <a:pt x="25725" y="812800"/>
                  </a:lnTo>
                  <a:cubicBezTo>
                    <a:pt x="18903" y="812800"/>
                    <a:pt x="12359" y="810090"/>
                    <a:pt x="7535" y="805265"/>
                  </a:cubicBezTo>
                  <a:cubicBezTo>
                    <a:pt x="2710" y="800441"/>
                    <a:pt x="0" y="793897"/>
                    <a:pt x="0" y="787075"/>
                  </a:cubicBezTo>
                  <a:lnTo>
                    <a:pt x="0" y="25725"/>
                  </a:lnTo>
                  <a:cubicBezTo>
                    <a:pt x="0" y="18903"/>
                    <a:pt x="2710" y="12359"/>
                    <a:pt x="7535" y="7535"/>
                  </a:cubicBezTo>
                  <a:cubicBezTo>
                    <a:pt x="12359" y="2710"/>
                    <a:pt x="18903" y="0"/>
                    <a:pt x="25725" y="0"/>
                  </a:cubicBezTo>
                  <a:close/>
                </a:path>
              </a:pathLst>
            </a:custGeom>
            <a:blipFill>
              <a:blip r:embed="rId3"/>
              <a:stretch>
                <a:fillRect l="-87868" t="0" r="-100083" b="0"/>
              </a:stretch>
            </a:blipFill>
          </p:spPr>
          <p:txBody>
            <a:bodyPr/>
            <a:p/>
          </p:txBody>
        </p:sp>
      </p:grpSp>
      <p:sp>
        <p:nvSpPr>
          <p:cNvPr name="TextBox 4" id="4"/>
          <p:cNvSpPr txBox="true"/>
          <p:nvPr/>
        </p:nvSpPr>
        <p:spPr>
          <a:xfrm rot="0">
            <a:off x="9804500" y="1594104"/>
            <a:ext cx="4978822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L'INTERVENANT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804500" y="2365629"/>
            <a:ext cx="6388000" cy="1663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70"/>
              </a:lnSpc>
            </a:pPr>
            <a:r>
              <a:rPr lang="en-US" b="true" sz="5700" spc="-114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LAWSON Arnel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04500" y="4015169"/>
            <a:ext cx="4978822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5B5B5B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Machine Learning Engineer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04500" y="7825169"/>
            <a:ext cx="4978822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8751"/>
                </a:solidFill>
                <a:latin typeface="Arimo"/>
                <a:ea typeface="Arimo"/>
                <a:cs typeface="Arimo"/>
                <a:sym typeface="Arimo"/>
              </a:rPr>
              <a:t>arnellawson7@gmail.com · github.com/Arnel7</a:t>
            </a:r>
          </a:p>
        </p:txBody>
      </p:sp>
      <p:pic>
        <p:nvPicPr>
          <p:cNvPr id="9" name="Picture 8" descr="photo-laws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261872"/>
            <a:ext cx="6922008" cy="7763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333500" y="1181100"/>
            <a:ext cx="15621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MERCI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33500" y="1885950"/>
            <a:ext cx="15621000" cy="1366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12"/>
              </a:lnSpc>
            </a:pPr>
            <a:r>
              <a:rPr lang="en-US" b="true" sz="12750" spc="-382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questions ?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333500" y="5493544"/>
            <a:ext cx="3090386" cy="857250"/>
            <a:chOff x="0" y="0"/>
            <a:chExt cx="4120515" cy="1143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120515" cy="1143000"/>
            </a:xfrm>
            <a:custGeom>
              <a:avLst/>
              <a:gdLst/>
              <a:ahLst/>
              <a:cxnLst/>
              <a:rect r="r" b="b" t="t" l="l"/>
              <a:pathLst>
                <a:path h="1143000" w="4120515">
                  <a:moveTo>
                    <a:pt x="571500" y="0"/>
                  </a:moveTo>
                  <a:lnTo>
                    <a:pt x="3549015" y="0"/>
                  </a:lnTo>
                  <a:cubicBezTo>
                    <a:pt x="3864610" y="0"/>
                    <a:pt x="4120515" y="255905"/>
                    <a:pt x="4120515" y="571500"/>
                  </a:cubicBezTo>
                  <a:cubicBezTo>
                    <a:pt x="4120515" y="887095"/>
                    <a:pt x="3864610" y="1143000"/>
                    <a:pt x="3549015" y="1143000"/>
                  </a:cubicBezTo>
                  <a:lnTo>
                    <a:pt x="571500" y="1143000"/>
                  </a:lnTo>
                  <a:cubicBezTo>
                    <a:pt x="255905" y="1143000"/>
                    <a:pt x="0" y="887095"/>
                    <a:pt x="0" y="571500"/>
                  </a:cubicBezTo>
                  <a:cubicBezTo>
                    <a:pt x="0" y="255905"/>
                    <a:pt x="255905" y="0"/>
                    <a:pt x="5715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752600" y="5655469"/>
            <a:ext cx="162353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b="true" sz="285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Parlons-en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547586" y="6007894"/>
            <a:ext cx="457200" cy="2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b="true" sz="360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→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845826" y="5493544"/>
            <a:ext cx="3108770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arnellawson7@gmail.com</a:t>
            </a:r>
          </a:p>
          <a:p>
            <a:pPr algn="r"/>
            <a:r>
              <a:rPr lang="en-US" b="true" sz="1800">
                <a:solidFill>
                  <a:srgbClr val="0A0A0A"/>
                </a:solidFill>
                <a:latin typeface="Arimo Bold"/>
                <a:ea typeface="Arimo Bold"/>
                <a:cs typeface="Arimo Bold"/>
                <a:sym typeface="Arimo Bold"/>
              </a:rPr>
              <a:t>github.com/Arnel7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33500" y="8591550"/>
            <a:ext cx="393668" cy="457200"/>
            <a:chOff x="0" y="0"/>
            <a:chExt cx="524891" cy="609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2" id="12"/>
          <p:cNvSpPr txBox="true"/>
          <p:nvPr/>
        </p:nvSpPr>
        <p:spPr>
          <a:xfrm rot="0">
            <a:off x="1879568" y="86677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307657" y="85772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16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COMMENT ÇA MARCHE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Deux chemins du texte au son.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04 / 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8348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21031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A0A0A"/>
                </a:solidFill>
                <a:latin typeface="Poppins"/>
              </a:rPr>
              <a:t>TEXTE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548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4983480"/>
            <a:ext cx="28346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5047488"/>
            <a:ext cx="2834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A0A0A"/>
                </a:solidFill>
                <a:latin typeface="Poppins"/>
              </a:rPr>
              <a:t>GRAPHÈMES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5504688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B5B5B"/>
                </a:solidFill>
                <a:latin typeface="Arimo"/>
              </a:rPr>
              <a:t>gb · kp · ny · tons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1228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1228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63840" y="352044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1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58444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Poppins"/>
              </a:rPr>
              <a:t>Route A : les lettres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06908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rien à ouvrir, rien à corriger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6217920"/>
            <a:ext cx="4572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7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6281928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8751"/>
                </a:solidFill>
                <a:latin typeface="Poppins"/>
              </a:rPr>
              <a:t>Route B : le phonémiseur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6766560"/>
            <a:ext cx="4114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chaque étape s'affiche et se corrige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481560" y="4114800"/>
            <a:ext cx="1005840" cy="137160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481560" y="5486400"/>
            <a:ext cx="1005840" cy="1325880"/>
          </a:xfrm>
          <a:prstGeom prst="line">
            <a:avLst/>
          </a:prstGeom>
          <a:ln w="22225">
            <a:solidFill>
              <a:srgbClr val="5B5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578840" y="4983480"/>
            <a:ext cx="17373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8840" y="498348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MEL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0" y="4983480"/>
            <a:ext cx="502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5B"/>
                </a:solidFill>
                <a:latin typeface="Poppins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864840" y="4983480"/>
            <a:ext cx="12801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B5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864840" y="4983480"/>
            <a:ext cx="1280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5B5B5B"/>
                </a:solidFill>
                <a:latin typeface="Poppins"/>
              </a:rPr>
              <a:t>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589520"/>
            <a:ext cx="74980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Synthèse vocale : quels sons produire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918704"/>
            <a:ext cx="74980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de la langue : chaque langue a ses propres règles.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7589520"/>
            <a:ext cx="77266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A0A0A"/>
                </a:solidFill>
                <a:latin typeface="Arimo"/>
              </a:rPr>
              <a:t>Clonage : avec quelle voix les dire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791870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B5B5B"/>
                </a:solidFill>
                <a:latin typeface="Arimo"/>
              </a:rPr>
              <a:t>Cela dépend surtout du locuteur, pas de la langue. Avec un modèle multilingue, une même voix peut traverser les langues.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L'ARCHITECTURE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Pas un script. Six pièces.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05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FRANÇAIS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78640" y="2880360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5B5B5B"/>
                </a:solidFill>
                <a:latin typeface="Arimo"/>
              </a:rPr>
              <a:t>FONGBÉ  ·  fongbe_g2p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38328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42900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42900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Normaliser le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42900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78640" y="342900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15 homoglyphes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43000" y="4133088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43000" y="4178808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4178808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Découper en unités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78808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gruut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78640" y="4178808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24 consonnes, gb kp ny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4882896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143000" y="4928616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928616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0A0A0A"/>
                </a:solidFill>
                <a:latin typeface="Poppins"/>
              </a:rPr>
              <a:t>Chercher dans le lexique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928616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 90 114 mots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78640" y="4928616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8112D"/>
                </a:solidFill>
                <a:latin typeface="Arimo"/>
              </a:rPr>
              <a:t>✗ 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632704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143000" y="5678424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3080" y="5678424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Deviner si le mot manque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678424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78640" y="5678424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règles, 7 voyelles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6382512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6428232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6428232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Traiter les tons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6428232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sans objet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78640" y="6428232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✓ 4 tons, nasalisation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7132320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43000" y="717804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8751"/>
                </a:solidFill>
                <a:latin typeface="Poppi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3080" y="7178040"/>
            <a:ext cx="5669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0">
                <a:solidFill>
                  <a:srgbClr val="0A0A0A"/>
                </a:solidFill>
                <a:latin typeface="Poppins"/>
              </a:rPr>
              <a:t>Post-traiter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7178040"/>
            <a:ext cx="3840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5B5B5B"/>
                </a:solidFill>
                <a:latin typeface="Arimo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8640" y="7178040"/>
            <a:ext cx="49377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0A0A0A"/>
                </a:solidFill>
                <a:latin typeface="Arimo"/>
              </a:rPr>
              <a:t>~ sandhi, brouillon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3000" y="7882127"/>
            <a:ext cx="16002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43000" y="7973568"/>
            <a:ext cx="16002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A0A0A"/>
                </a:solidFill>
                <a:latin typeface="Arimo"/>
              </a:rPr>
              <a:t>Cinq pièces sur six existent pour le Fongbé. Je les ai écrites. Il manque le dictionnaire.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8339327"/>
            <a:ext cx="16002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Règles d'après G. Guillet, Principes de l'écriture et de la lecture de la langue Fon.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LA DIFFÉRENCE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571625"/>
            <a:ext cx="15240000" cy="81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6000" spc="-1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Une phrase écrite. Six sens.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08 /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788920"/>
            <a:ext cx="7315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0A0A0A"/>
                </a:solidFill>
                <a:latin typeface="Poppins"/>
              </a:rPr>
              <a:t>E ɖɔ nu 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0440"/>
            <a:ext cx="7315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5B5B5B"/>
                </a:solidFill>
                <a:latin typeface="Arimo"/>
              </a:rPr>
              <a:t>ce qu'on écrit vraiment : une seule prononciation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m'a 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52628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0" y="452628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m'a 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vous a 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53212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35840" y="553212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vous a 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É ɖɔ̀ nú mǐ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Il nous a 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6537960"/>
            <a:ext cx="3108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08751"/>
                </a:solidFill>
                <a:latin typeface="Poppins"/>
              </a:rPr>
              <a:t>È ɖɔ̀ nú mǐ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0" y="6537960"/>
            <a:ext cx="42062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A0A0A"/>
                </a:solidFill>
                <a:latin typeface="Arimo"/>
              </a:rPr>
              <a:t>On nous a 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360920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400" b="1">
                <a:solidFill>
                  <a:srgbClr val="008751"/>
                </a:solidFill>
                <a:latin typeface="Poppins"/>
              </a:rPr>
              <a:t>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7406640"/>
            <a:ext cx="1536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En français, un dictionnaire et une étiquette grammaticale suffisent à trancher.</a:t>
            </a:r>
          </a:p>
          <a:p>
            <a:pPr algn="l"/>
            <a:r>
              <a:rPr sz="2400" b="0">
                <a:solidFill>
                  <a:srgbClr val="0A0A0A"/>
                </a:solidFill>
                <a:latin typeface="Poppins"/>
              </a:rPr>
              <a:t>Ici, il faudrait le ton. Personne ne l'écrit, donc aucun corpus ne le note.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8275320"/>
            <a:ext cx="15361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B5B5B"/>
                </a:solidFill>
                <a:latin typeface="Arimo"/>
              </a:rPr>
              <a:t>Six sens pour une seule graphie. Source : Lire et compter en fongbé, p. 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 rot="0"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143000" y="990600"/>
            <a:ext cx="160020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b="true" sz="1950" spc="351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EN CHIFFRES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1600200"/>
            <a:ext cx="14287500" cy="164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15"/>
              </a:lnSpc>
            </a:pPr>
            <a:r>
              <a:rPr lang="en-US" b="true" sz="6300" spc="-157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Vous l'avez vu. Voici l'échelle.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43000" y="8782050"/>
            <a:ext cx="393668" cy="457200"/>
            <a:chOff x="0" y="0"/>
            <a:chExt cx="524891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24891" cy="609600"/>
            </a:xfrm>
            <a:custGeom>
              <a:avLst/>
              <a:gdLst/>
              <a:ahLst/>
              <a:cxnLst/>
              <a:rect r="r" b="b" t="t" l="l"/>
              <a:pathLst>
                <a:path h="609600" w="524891">
                  <a:moveTo>
                    <a:pt x="0" y="0"/>
                  </a:moveTo>
                  <a:lnTo>
                    <a:pt x="524891" y="0"/>
                  </a:lnTo>
                  <a:lnTo>
                    <a:pt x="524891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7" id="7"/>
          <p:cNvSpPr txBox="true"/>
          <p:nvPr/>
        </p:nvSpPr>
        <p:spPr>
          <a:xfrm rot="0">
            <a:off x="1689068" y="8858250"/>
            <a:ext cx="1577626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Indaba</a:t>
            </a:r>
            <a:r>
              <a:rPr lang="en-US" b="true" sz="1650">
                <a:solidFill>
                  <a:srgbClr val="008751"/>
                </a:solidFill>
                <a:latin typeface="Poppins Bold"/>
                <a:ea typeface="Poppins Bold"/>
                <a:cs typeface="Poppins Bold"/>
                <a:sym typeface="Poppins Bold"/>
              </a:rPr>
              <a:t>X</a:t>
            </a: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 Bénin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498157" y="8767762"/>
            <a:ext cx="6468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5B5B5B"/>
                </a:solidFill>
                <a:latin typeface="Arimo"/>
                <a:ea typeface="Arimo"/>
                <a:cs typeface="Arimo"/>
                <a:sym typeface="Arimo"/>
              </a:rPr>
              <a:t>13 / 16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38250" y="3946969"/>
            <a:ext cx="5105400" cy="4587526"/>
            <a:chOff x="0" y="0"/>
            <a:chExt cx="6807200" cy="611670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8751"/>
            </a:solid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43000" y="3813619"/>
            <a:ext cx="5105400" cy="4587526"/>
            <a:chOff x="0" y="0"/>
            <a:chExt cx="6807200" cy="61167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15335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88,5 %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35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des voyelles en ton moyen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335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Transcriptions de parole, sans marque.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86550" y="3946969"/>
            <a:ext cx="5105400" cy="4587526"/>
            <a:chOff x="0" y="0"/>
            <a:chExt cx="6807200" cy="611670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CD116"/>
            </a:solidFill>
          </p:spPr>
          <p:txBody>
            <a:bodyPr/>
            <a:p/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91300" y="3813619"/>
            <a:ext cx="5105400" cy="4587526"/>
            <a:chOff x="0" y="0"/>
            <a:chExt cx="6807200" cy="611670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22" id="22"/>
          <p:cNvSpPr txBox="true"/>
          <p:nvPr/>
        </p:nvSpPr>
        <p:spPr>
          <a:xfrm rot="0">
            <a:off x="69818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78,4 %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8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parallèle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18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Pas propre à un seul corpus.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134850" y="3946969"/>
            <a:ext cx="5105400" cy="4587526"/>
            <a:chOff x="0" y="0"/>
            <a:chExt cx="6807200" cy="611670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E8112D"/>
            </a:solidFill>
          </p:spPr>
          <p:txBody>
            <a:bodyPr/>
            <a:p/>
          </p:txBody>
        </p:sp>
      </p:grpSp>
      <p:grpSp>
        <p:nvGrpSpPr>
          <p:cNvPr name="Group 27" id="27"/>
          <p:cNvGrpSpPr/>
          <p:nvPr/>
        </p:nvGrpSpPr>
        <p:grpSpPr>
          <a:xfrm rot="0">
            <a:off x="12039600" y="3813619"/>
            <a:ext cx="5105400" cy="4587526"/>
            <a:chOff x="0" y="0"/>
            <a:chExt cx="6807200" cy="611670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07200" cy="6116701"/>
            </a:xfrm>
            <a:custGeom>
              <a:avLst/>
              <a:gdLst/>
              <a:ahLst/>
              <a:cxnLst/>
              <a:rect r="r" b="b" t="t" l="l"/>
              <a:pathLst>
                <a:path h="6116701" w="6807200">
                  <a:moveTo>
                    <a:pt x="203200" y="0"/>
                  </a:moveTo>
                  <a:lnTo>
                    <a:pt x="6604000" y="0"/>
                  </a:lnTo>
                  <a:cubicBezTo>
                    <a:pt x="6716268" y="0"/>
                    <a:pt x="6807200" y="90932"/>
                    <a:pt x="6807200" y="203200"/>
                  </a:cubicBezTo>
                  <a:lnTo>
                    <a:pt x="6807200" y="5913501"/>
                  </a:lnTo>
                  <a:cubicBezTo>
                    <a:pt x="6807200" y="6025769"/>
                    <a:pt x="6716268" y="6116701"/>
                    <a:pt x="6604000" y="6116701"/>
                  </a:cubicBezTo>
                  <a:lnTo>
                    <a:pt x="203200" y="6116701"/>
                  </a:lnTo>
                  <a:cubicBezTo>
                    <a:pt x="90932" y="6116701"/>
                    <a:pt x="0" y="6025769"/>
                    <a:pt x="0" y="5913501"/>
                  </a:cubicBezTo>
                  <a:lnTo>
                    <a:pt x="0" y="203200"/>
                  </a:lnTo>
                  <a:cubicBezTo>
                    <a:pt x="0" y="90932"/>
                    <a:pt x="90932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A0A0A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30125" y="4289869"/>
            <a:ext cx="4324350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0"/>
              </a:lnSpc>
            </a:pPr>
            <a:r>
              <a:rPr lang="en-US" b="true" sz="7800" spc="-195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55,7 %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30125" y="5337619"/>
            <a:ext cx="43243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b="true" sz="1650">
                <a:solidFill>
                  <a:srgbClr val="0A0A0A"/>
                </a:solidFill>
                <a:latin typeface="Poppins Bold"/>
                <a:ea typeface="Poppins Bold"/>
                <a:cs typeface="Poppins Bold"/>
                <a:sym typeface="Poppins Bold"/>
              </a:rPr>
              <a:t>sur le corpus Q&amp;A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0125" y="7336345"/>
            <a:ext cx="4324350" cy="655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>
                <a:solidFill>
                  <a:srgbClr val="5B5B5B"/>
                </a:solidFill>
                <a:latin typeface="Poppins"/>
                <a:ea typeface="Poppins"/>
                <a:cs typeface="Poppins"/>
                <a:sym typeface="Poppins"/>
              </a:rPr>
              <a:t>Même là où c'est le mieux noté.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273552"/>
            <a:ext cx="1600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5B5B5B"/>
                </a:solidFill>
                <a:latin typeface="Arimo"/>
              </a:rPr>
              <a:t>Sans corpus tonné, pas de restauration tonale. Et sans elle, une grande partie du texte réel reste inexploitable.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DAHSZyL3yQI</dc:identifier>
  <dcterms:modified xsi:type="dcterms:W3CDTF">2011-08-01T06:04:30Z</dcterms:modified>
  <cp:revision>1</cp:revision>
  <dc:title>IndabaX Bénin — Speaker Deck Template</dc:title>
</cp:coreProperties>
</file>